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2" r:id="rId5"/>
    <p:sldId id="259" r:id="rId6"/>
    <p:sldId id="258" r:id="rId7"/>
    <p:sldId id="268" r:id="rId8"/>
    <p:sldId id="260" r:id="rId9"/>
    <p:sldId id="261" r:id="rId10"/>
    <p:sldId id="263" r:id="rId11"/>
    <p:sldId id="264" r:id="rId12"/>
    <p:sldId id="265" r:id="rId13"/>
    <p:sldId id="266" r:id="rId14"/>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09" autoAdjust="0"/>
    <p:restoredTop sz="90190" autoAdjust="0"/>
  </p:normalViewPr>
  <p:slideViewPr>
    <p:cSldViewPr snapToGrid="0">
      <p:cViewPr>
        <p:scale>
          <a:sx n="66" d="100"/>
          <a:sy n="66" d="100"/>
        </p:scale>
        <p:origin x="106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4D287-076F-FD06-5176-7E002CD267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F1CD456-8EF7-7931-868E-07C0859FC3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F392337-45FD-0721-3145-EDE457653576}"/>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5" name="Footer Placeholder 4">
            <a:extLst>
              <a:ext uri="{FF2B5EF4-FFF2-40B4-BE49-F238E27FC236}">
                <a16:creationId xmlns:a16="http://schemas.microsoft.com/office/drawing/2014/main" id="{C832ADB0-47CF-BB7A-F5EB-21F98A4E8D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867994-0A00-8C6A-2F3A-450641DF81D5}"/>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3557543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0627B-90E5-19CB-9925-0C97361DA51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FF77BC3-62D8-7933-609C-1AF3969F5D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D36139-8CE9-9709-BF4E-AF5BA78AAA22}"/>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5" name="Footer Placeholder 4">
            <a:extLst>
              <a:ext uri="{FF2B5EF4-FFF2-40B4-BE49-F238E27FC236}">
                <a16:creationId xmlns:a16="http://schemas.microsoft.com/office/drawing/2014/main" id="{B92B48BD-DCD5-CAA0-1831-6D5ACF6C6F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5B3D97-8757-7E59-9AB0-1035FB418B43}"/>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1399479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63A9-51B0-9313-1649-5D54653E85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A236DF6-CA78-FC11-B7D4-93A7AE3A1E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B0F7C8-6E7B-8FE5-D8EB-A73392A8F2B4}"/>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5" name="Footer Placeholder 4">
            <a:extLst>
              <a:ext uri="{FF2B5EF4-FFF2-40B4-BE49-F238E27FC236}">
                <a16:creationId xmlns:a16="http://schemas.microsoft.com/office/drawing/2014/main" id="{2AD9E02F-D303-B749-4A96-545FBC0171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FAC0AD-B169-A372-457D-87E60D30E35A}"/>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934349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C055-EEDB-A537-6E00-322A6EBCC41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E7086D7-67C2-6576-8801-3A56FBDFE1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6679F00-79A9-0881-DC52-0C1B890238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634AB65-91CC-1CBB-2AA1-24E3319BB8C5}"/>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6" name="Footer Placeholder 5">
            <a:extLst>
              <a:ext uri="{FF2B5EF4-FFF2-40B4-BE49-F238E27FC236}">
                <a16:creationId xmlns:a16="http://schemas.microsoft.com/office/drawing/2014/main" id="{9E92CA14-7144-55F6-2507-35F2B515E81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CB3A458-4742-BF49-41A7-68A3B55500B6}"/>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954955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9F75F-A392-E786-F350-6908F9553FE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76C40CE-95F9-4755-5523-08269D6591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E64AD3-CC14-6E1B-DFAD-F243CB0042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E992C22-D5DF-CB38-C2E9-1B11187EB9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A69E01-7615-3B9E-DE40-E09331CF6E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327A975-26B1-C28D-FBF2-79D5A07726AC}"/>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8" name="Footer Placeholder 7">
            <a:extLst>
              <a:ext uri="{FF2B5EF4-FFF2-40B4-BE49-F238E27FC236}">
                <a16:creationId xmlns:a16="http://schemas.microsoft.com/office/drawing/2014/main" id="{31E57130-D376-8462-D932-BED7251A98B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1F8969D-73C2-86CC-B6C0-84E2C40E3DDE}"/>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922338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0D02B-27CB-E2A7-2E0C-856267FBF4A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D51FC5D-15E0-0BD6-301F-A17F5288C8C4}"/>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4" name="Footer Placeholder 3">
            <a:extLst>
              <a:ext uri="{FF2B5EF4-FFF2-40B4-BE49-F238E27FC236}">
                <a16:creationId xmlns:a16="http://schemas.microsoft.com/office/drawing/2014/main" id="{5759024A-27D4-0002-9003-59F155A7742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CDBDD3-6FDB-555B-F20F-017F2BC13DE2}"/>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4141269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EC86C6-9627-B485-3DD1-214F2714B7B2}"/>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3" name="Footer Placeholder 2">
            <a:extLst>
              <a:ext uri="{FF2B5EF4-FFF2-40B4-BE49-F238E27FC236}">
                <a16:creationId xmlns:a16="http://schemas.microsoft.com/office/drawing/2014/main" id="{8D4F29EE-57BC-5465-BEE9-559A3500190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2C2C1D7-CDD8-0851-4D04-18E574B0860F}"/>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2277915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E7111-5C62-2EC7-AEE9-EF69FC5C1A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2175078-C07B-5649-B018-615028338A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044955B-5380-D7A1-B803-8545130205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1FA869-03A2-8322-36A7-3FAE67AF3E91}"/>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6" name="Footer Placeholder 5">
            <a:extLst>
              <a:ext uri="{FF2B5EF4-FFF2-40B4-BE49-F238E27FC236}">
                <a16:creationId xmlns:a16="http://schemas.microsoft.com/office/drawing/2014/main" id="{1D48BA8A-ECBE-1D3A-FFD4-4A4A1E95B0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D6BBBE-00C8-FCB1-3DE1-72DF87E76316}"/>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3097552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828D-796B-E164-0533-FD40F16CF7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A18398C-D261-9FD0-95AF-DABDA710ED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C220F6D-66BF-680D-633C-EBC15E5835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5B8B31-8A92-A7FA-9A96-4B8DC51B958C}"/>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6" name="Footer Placeholder 5">
            <a:extLst>
              <a:ext uri="{FF2B5EF4-FFF2-40B4-BE49-F238E27FC236}">
                <a16:creationId xmlns:a16="http://schemas.microsoft.com/office/drawing/2014/main" id="{4D90644E-88A5-E123-AB35-2A53A44CC5C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DB7068D-26DE-E033-4233-94F88422B501}"/>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2771098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4E13C-9E78-A1A6-8C7B-0DE6C8CFDE8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6042D2E-9C96-E063-D6AD-DC725A2A86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918A1E5-426B-6873-C917-5D2CBC9CBB11}"/>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5" name="Footer Placeholder 4">
            <a:extLst>
              <a:ext uri="{FF2B5EF4-FFF2-40B4-BE49-F238E27FC236}">
                <a16:creationId xmlns:a16="http://schemas.microsoft.com/office/drawing/2014/main" id="{5ED5FC27-96DA-EE7B-544A-65F7EE936F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923734-C627-A8D1-27A5-79BE73D37635}"/>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3556826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5D0864-5619-7E7E-25E9-7D0EADC9EF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4F364D7-99C7-C5AB-28FB-F4B92FA3E8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BDCBE1F-2100-F932-3DEA-2C0E78FBF86B}"/>
              </a:ext>
            </a:extLst>
          </p:cNvPr>
          <p:cNvSpPr>
            <a:spLocks noGrp="1"/>
          </p:cNvSpPr>
          <p:nvPr>
            <p:ph type="dt" sz="half" idx="10"/>
          </p:nvPr>
        </p:nvSpPr>
        <p:spPr/>
        <p:txBody>
          <a:bodyPr/>
          <a:lstStyle/>
          <a:p>
            <a:fld id="{0A86DBA5-43AF-48B9-A7F9-2CF1B16B4F37}" type="datetimeFigureOut">
              <a:rPr lang="en-GB" smtClean="0"/>
              <a:t>06/08/2026</a:t>
            </a:fld>
            <a:endParaRPr lang="en-GB"/>
          </a:p>
        </p:txBody>
      </p:sp>
      <p:sp>
        <p:nvSpPr>
          <p:cNvPr id="5" name="Footer Placeholder 4">
            <a:extLst>
              <a:ext uri="{FF2B5EF4-FFF2-40B4-BE49-F238E27FC236}">
                <a16:creationId xmlns:a16="http://schemas.microsoft.com/office/drawing/2014/main" id="{072F2B88-1179-D50A-2BAA-31A3822CC03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B5638F-5B4B-9762-180E-4C5A2997F2F8}"/>
              </a:ext>
            </a:extLst>
          </p:cNvPr>
          <p:cNvSpPr>
            <a:spLocks noGrp="1"/>
          </p:cNvSpPr>
          <p:nvPr>
            <p:ph type="sldNum" sz="quarter" idx="12"/>
          </p:nvPr>
        </p:nvSpPr>
        <p:spPr/>
        <p:txBody>
          <a:bodyPr/>
          <a:lstStyle/>
          <a:p>
            <a:fld id="{C511AAB7-294B-42F2-97AB-29B7DDB6815E}" type="slidenum">
              <a:rPr lang="en-GB" smtClean="0"/>
              <a:t>‹#›</a:t>
            </a:fld>
            <a:endParaRPr lang="en-GB"/>
          </a:p>
        </p:txBody>
      </p:sp>
    </p:spTree>
    <p:extLst>
      <p:ext uri="{BB962C8B-B14F-4D97-AF65-F5344CB8AC3E}">
        <p14:creationId xmlns:p14="http://schemas.microsoft.com/office/powerpoint/2010/main" val="1349099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0BBCCA-CDCE-2865-139D-855E4310FA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43E6569-F4C8-96A3-894F-BCE91B8C63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1B5C6F-CC8A-5AF8-4287-07EF87C8C6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86DBA5-43AF-48B9-A7F9-2CF1B16B4F37}" type="datetimeFigureOut">
              <a:rPr lang="en-GB" smtClean="0"/>
              <a:t>06/08/2026</a:t>
            </a:fld>
            <a:endParaRPr lang="en-GB"/>
          </a:p>
        </p:txBody>
      </p:sp>
      <p:sp>
        <p:nvSpPr>
          <p:cNvPr id="5" name="Footer Placeholder 4">
            <a:extLst>
              <a:ext uri="{FF2B5EF4-FFF2-40B4-BE49-F238E27FC236}">
                <a16:creationId xmlns:a16="http://schemas.microsoft.com/office/drawing/2014/main" id="{0AFAA8D7-9D96-CFA2-F4B4-A65D903329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F79BBAD-F57B-813D-2738-146FBC11DD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11AAB7-294B-42F2-97AB-29B7DDB6815E}" type="slidenum">
              <a:rPr lang="en-GB" smtClean="0"/>
              <a:t>‹#›</a:t>
            </a:fld>
            <a:endParaRPr lang="en-GB"/>
          </a:p>
        </p:txBody>
      </p:sp>
    </p:spTree>
    <p:extLst>
      <p:ext uri="{BB962C8B-B14F-4D97-AF65-F5344CB8AC3E}">
        <p14:creationId xmlns:p14="http://schemas.microsoft.com/office/powerpoint/2010/main" val="866928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6CAA75-4561-B1B8-95AB-6FEC887F2065}"/>
              </a:ext>
            </a:extLst>
          </p:cNvPr>
          <p:cNvSpPr txBox="1"/>
          <p:nvPr/>
        </p:nvSpPr>
        <p:spPr>
          <a:xfrm>
            <a:off x="206634" y="224589"/>
            <a:ext cx="7637956" cy="4185761"/>
          </a:xfrm>
          <a:prstGeom prst="rect">
            <a:avLst/>
          </a:prstGeom>
          <a:noFill/>
        </p:spPr>
        <p:txBody>
          <a:bodyPr wrap="square" rtlCol="0">
            <a:spAutoFit/>
          </a:bodyPr>
          <a:lstStyle/>
          <a:p>
            <a:r>
              <a:rPr lang="en-GB" sz="5400" b="1" spc="50" dirty="0">
                <a:ln w="0"/>
                <a:solidFill>
                  <a:schemeClr val="accent6">
                    <a:lumMod val="75000"/>
                  </a:schemeClr>
                </a:solidFill>
                <a:effectLst>
                  <a:innerShdw blurRad="63500" dist="50800" dir="13500000">
                    <a:srgbClr val="000000">
                      <a:alpha val="50000"/>
                    </a:srgbClr>
                  </a:innerShdw>
                </a:effectLst>
                <a:latin typeface="Algerian" panose="04020705040A02060702" pitchFamily="82" charset="0"/>
              </a:rPr>
              <a:t>SMART AGRICULTURE MANAGEMENT SYSTEM</a:t>
            </a:r>
          </a:p>
          <a:p>
            <a:pPr>
              <a:lnSpc>
                <a:spcPct val="150000"/>
              </a:lnSpc>
            </a:pPr>
            <a:r>
              <a:rPr lang="en-GB" sz="3600" dirty="0">
                <a:ln w="0"/>
                <a:solidFill>
                  <a:schemeClr val="accent6">
                    <a:lumMod val="75000"/>
                  </a:schemeClr>
                </a:solidFill>
                <a:effectLst>
                  <a:outerShdw blurRad="38100" dist="25400" dir="5400000" algn="ctr" rotWithShape="0">
                    <a:srgbClr val="6E747A">
                      <a:alpha val="43000"/>
                    </a:srgbClr>
                  </a:outerShdw>
                </a:effectLst>
                <a:latin typeface="Algerian" panose="04020705040A02060702" pitchFamily="82" charset="0"/>
              </a:rPr>
              <a:t>SQL Database Project</a:t>
            </a:r>
          </a:p>
          <a:p>
            <a:endParaRPr lang="en-GB" sz="2000" dirty="0">
              <a:ln>
                <a:solidFill>
                  <a:schemeClr val="accent6">
                    <a:lumMod val="75000"/>
                  </a:schemeClr>
                </a:solidFill>
              </a:ln>
              <a:solidFill>
                <a:schemeClr val="accent6">
                  <a:lumMod val="75000"/>
                </a:schemeClr>
              </a:solidFill>
            </a:endParaRPr>
          </a:p>
          <a:p>
            <a:r>
              <a:rPr lang="en-GB" sz="2800" dirty="0"/>
              <a:t>A relational database project using MySQL to </a:t>
            </a:r>
            <a:r>
              <a:rPr lang="en-GB" sz="2800" dirty="0">
                <a:latin typeface="Times New Roman" panose="02020603050405020304" pitchFamily="18" charset="0"/>
                <a:cs typeface="Times New Roman" panose="02020603050405020304" pitchFamily="18" charset="0"/>
              </a:rPr>
              <a:t>manage farms,Lands, crops, production, market, Production, price and sales</a:t>
            </a:r>
          </a:p>
        </p:txBody>
      </p:sp>
      <p:sp>
        <p:nvSpPr>
          <p:cNvPr id="5" name="Oval 4">
            <a:extLst>
              <a:ext uri="{FF2B5EF4-FFF2-40B4-BE49-F238E27FC236}">
                <a16:creationId xmlns:a16="http://schemas.microsoft.com/office/drawing/2014/main" id="{1D4C7A05-44FE-1271-283F-408B7CD62EB9}"/>
              </a:ext>
            </a:extLst>
          </p:cNvPr>
          <p:cNvSpPr/>
          <p:nvPr/>
        </p:nvSpPr>
        <p:spPr>
          <a:xfrm>
            <a:off x="7503394" y="-371476"/>
            <a:ext cx="6933522" cy="7600951"/>
          </a:xfrm>
          <a:prstGeom prst="ellipse">
            <a:avLst/>
          </a:prstGeom>
          <a:blipFill>
            <a:blip r:embed="rId2"/>
            <a:stretch>
              <a:fillRect l="-330" t="521" r="330" b="-9663"/>
            </a:stretch>
          </a:blip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lowchart: Terminator 7">
            <a:extLst>
              <a:ext uri="{FF2B5EF4-FFF2-40B4-BE49-F238E27FC236}">
                <a16:creationId xmlns:a16="http://schemas.microsoft.com/office/drawing/2014/main" id="{DCD18253-AEB6-391C-500D-4E101DD9CE0A}"/>
              </a:ext>
            </a:extLst>
          </p:cNvPr>
          <p:cNvSpPr/>
          <p:nvPr/>
        </p:nvSpPr>
        <p:spPr>
          <a:xfrm>
            <a:off x="13640" y="4790369"/>
            <a:ext cx="5167952" cy="1842447"/>
          </a:xfrm>
          <a:prstGeom prst="flowChartTerminator">
            <a:avLst/>
          </a:prstGeom>
          <a:solidFill>
            <a:schemeClr val="accent6">
              <a:lumMod val="5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t"/>
          <a:lstStyle/>
          <a:p>
            <a:pPr algn="ctr"/>
            <a:r>
              <a:rPr lang="en-GB" sz="4000" dirty="0"/>
              <a:t>PRESENTED BY </a:t>
            </a:r>
          </a:p>
          <a:p>
            <a:pPr algn="ctr"/>
            <a:r>
              <a:rPr lang="en-GB" sz="4000" dirty="0"/>
              <a:t>SASTHASAI V M</a:t>
            </a:r>
            <a:endParaRPr lang="en-GB" sz="1800" dirty="0"/>
          </a:p>
          <a:p>
            <a:pPr algn="ctr"/>
            <a:endParaRPr lang="en-GB" dirty="0"/>
          </a:p>
        </p:txBody>
      </p:sp>
      <p:pic>
        <p:nvPicPr>
          <p:cNvPr id="10" name="Picture 9">
            <a:extLst>
              <a:ext uri="{FF2B5EF4-FFF2-40B4-BE49-F238E27FC236}">
                <a16:creationId xmlns:a16="http://schemas.microsoft.com/office/drawing/2014/main" id="{3377DC0E-F433-622C-D709-F33D0D957925}"/>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5596332" y="4671162"/>
            <a:ext cx="1907062" cy="1907062"/>
          </a:xfrm>
          <a:prstGeom prst="rect">
            <a:avLst/>
          </a:prstGeom>
        </p:spPr>
      </p:pic>
    </p:spTree>
    <p:extLst>
      <p:ext uri="{BB962C8B-B14F-4D97-AF65-F5344CB8AC3E}">
        <p14:creationId xmlns:p14="http://schemas.microsoft.com/office/powerpoint/2010/main" val="3719499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574F4B-15D9-48F7-AE0E-F1770A3E8BB2}"/>
              </a:ext>
            </a:extLst>
          </p:cNvPr>
          <p:cNvSpPr txBox="1"/>
          <p:nvPr/>
        </p:nvSpPr>
        <p:spPr>
          <a:xfrm>
            <a:off x="600501" y="5700337"/>
            <a:ext cx="9840036" cy="369332"/>
          </a:xfrm>
          <a:prstGeom prst="rect">
            <a:avLst/>
          </a:prstGeom>
          <a:noFill/>
        </p:spPr>
        <p:txBody>
          <a:bodyPr wrap="square" rtlCol="0">
            <a:spAutoFit/>
          </a:bodyPr>
          <a:lstStyle/>
          <a:p>
            <a:r>
              <a:rPr lang="en-GB" dirty="0"/>
              <a:t> </a:t>
            </a:r>
          </a:p>
        </p:txBody>
      </p:sp>
      <p:pic>
        <p:nvPicPr>
          <p:cNvPr id="6" name="Picture 5">
            <a:extLst>
              <a:ext uri="{FF2B5EF4-FFF2-40B4-BE49-F238E27FC236}">
                <a16:creationId xmlns:a16="http://schemas.microsoft.com/office/drawing/2014/main" id="{B2030C5B-65C2-DD0E-5DD2-8CD8397D548C}"/>
              </a:ext>
            </a:extLst>
          </p:cNvPr>
          <p:cNvPicPr>
            <a:picLocks noChangeAspect="1"/>
          </p:cNvPicPr>
          <p:nvPr/>
        </p:nvPicPr>
        <p:blipFill>
          <a:blip r:embed="rId2"/>
          <a:stretch>
            <a:fillRect/>
          </a:stretch>
        </p:blipFill>
        <p:spPr>
          <a:xfrm>
            <a:off x="1100350" y="2971450"/>
            <a:ext cx="864927" cy="677147"/>
          </a:xfrm>
          <a:prstGeom prst="rect">
            <a:avLst/>
          </a:prstGeom>
        </p:spPr>
      </p:pic>
      <p:pic>
        <p:nvPicPr>
          <p:cNvPr id="8" name="Picture 7">
            <a:extLst>
              <a:ext uri="{FF2B5EF4-FFF2-40B4-BE49-F238E27FC236}">
                <a16:creationId xmlns:a16="http://schemas.microsoft.com/office/drawing/2014/main" id="{F6CF2FB7-1C45-29A1-AB71-B52374A91311}"/>
              </a:ext>
            </a:extLst>
          </p:cNvPr>
          <p:cNvPicPr>
            <a:picLocks noChangeAspect="1"/>
          </p:cNvPicPr>
          <p:nvPr/>
        </p:nvPicPr>
        <p:blipFill>
          <a:blip r:embed="rId3"/>
          <a:stretch>
            <a:fillRect/>
          </a:stretch>
        </p:blipFill>
        <p:spPr>
          <a:xfrm>
            <a:off x="3028880" y="3004815"/>
            <a:ext cx="737904" cy="684722"/>
          </a:xfrm>
          <a:prstGeom prst="rect">
            <a:avLst/>
          </a:prstGeom>
        </p:spPr>
      </p:pic>
      <p:pic>
        <p:nvPicPr>
          <p:cNvPr id="12" name="Picture 11">
            <a:extLst>
              <a:ext uri="{FF2B5EF4-FFF2-40B4-BE49-F238E27FC236}">
                <a16:creationId xmlns:a16="http://schemas.microsoft.com/office/drawing/2014/main" id="{CA5BD3D9-F962-7539-D5E2-A3C85F64FBFE}"/>
              </a:ext>
            </a:extLst>
          </p:cNvPr>
          <p:cNvPicPr>
            <a:picLocks noChangeAspect="1"/>
          </p:cNvPicPr>
          <p:nvPr/>
        </p:nvPicPr>
        <p:blipFill>
          <a:blip r:embed="rId4"/>
          <a:stretch>
            <a:fillRect/>
          </a:stretch>
        </p:blipFill>
        <p:spPr>
          <a:xfrm>
            <a:off x="4921374" y="2961751"/>
            <a:ext cx="1025220" cy="798207"/>
          </a:xfrm>
          <a:prstGeom prst="rect">
            <a:avLst/>
          </a:prstGeom>
        </p:spPr>
      </p:pic>
      <p:pic>
        <p:nvPicPr>
          <p:cNvPr id="14" name="Picture 13">
            <a:extLst>
              <a:ext uri="{FF2B5EF4-FFF2-40B4-BE49-F238E27FC236}">
                <a16:creationId xmlns:a16="http://schemas.microsoft.com/office/drawing/2014/main" id="{74E545D7-7FC0-2B29-0C2E-F0C22C151E54}"/>
              </a:ext>
            </a:extLst>
          </p:cNvPr>
          <p:cNvPicPr>
            <a:picLocks noChangeAspect="1"/>
          </p:cNvPicPr>
          <p:nvPr/>
        </p:nvPicPr>
        <p:blipFill>
          <a:blip r:embed="rId5"/>
          <a:stretch>
            <a:fillRect/>
          </a:stretch>
        </p:blipFill>
        <p:spPr>
          <a:xfrm>
            <a:off x="6545457" y="2948103"/>
            <a:ext cx="954558" cy="798208"/>
          </a:xfrm>
          <a:prstGeom prst="rect">
            <a:avLst/>
          </a:prstGeom>
        </p:spPr>
      </p:pic>
      <p:pic>
        <p:nvPicPr>
          <p:cNvPr id="16" name="Picture 15">
            <a:extLst>
              <a:ext uri="{FF2B5EF4-FFF2-40B4-BE49-F238E27FC236}">
                <a16:creationId xmlns:a16="http://schemas.microsoft.com/office/drawing/2014/main" id="{752A213B-D1B6-939D-339A-F506A8F8724A}"/>
              </a:ext>
            </a:extLst>
          </p:cNvPr>
          <p:cNvPicPr>
            <a:picLocks noChangeAspect="1"/>
          </p:cNvPicPr>
          <p:nvPr/>
        </p:nvPicPr>
        <p:blipFill>
          <a:blip r:embed="rId6"/>
          <a:stretch>
            <a:fillRect/>
          </a:stretch>
        </p:blipFill>
        <p:spPr>
          <a:xfrm>
            <a:off x="8718649" y="2961061"/>
            <a:ext cx="967061" cy="798209"/>
          </a:xfrm>
          <a:prstGeom prst="rect">
            <a:avLst/>
          </a:prstGeom>
        </p:spPr>
      </p:pic>
      <p:grpSp>
        <p:nvGrpSpPr>
          <p:cNvPr id="18" name="Group 17">
            <a:extLst>
              <a:ext uri="{FF2B5EF4-FFF2-40B4-BE49-F238E27FC236}">
                <a16:creationId xmlns:a16="http://schemas.microsoft.com/office/drawing/2014/main" id="{BA2A7C55-108E-5D8A-9976-80B433335819}"/>
              </a:ext>
            </a:extLst>
          </p:cNvPr>
          <p:cNvGrpSpPr/>
          <p:nvPr/>
        </p:nvGrpSpPr>
        <p:grpSpPr>
          <a:xfrm>
            <a:off x="332883" y="354842"/>
            <a:ext cx="11513374" cy="6363659"/>
            <a:chOff x="332883" y="354842"/>
            <a:chExt cx="11513374" cy="6363659"/>
          </a:xfrm>
        </p:grpSpPr>
        <p:sp>
          <p:nvSpPr>
            <p:cNvPr id="2" name="TextBox 1">
              <a:extLst>
                <a:ext uri="{FF2B5EF4-FFF2-40B4-BE49-F238E27FC236}">
                  <a16:creationId xmlns:a16="http://schemas.microsoft.com/office/drawing/2014/main" id="{EB98D592-A924-0FB8-9BE4-D5FD9C6418F8}"/>
                </a:ext>
              </a:extLst>
            </p:cNvPr>
            <p:cNvSpPr txBox="1"/>
            <p:nvPr/>
          </p:nvSpPr>
          <p:spPr>
            <a:xfrm>
              <a:off x="341194" y="354842"/>
              <a:ext cx="11505063" cy="4616648"/>
            </a:xfrm>
            <a:prstGeom prst="rect">
              <a:avLst/>
            </a:prstGeom>
            <a:noFill/>
          </p:spPr>
          <p:txBody>
            <a:bodyPr wrap="square" rtlCol="0">
              <a:spAutoFit/>
            </a:bodyPr>
            <a:lstStyle/>
            <a:p>
              <a:r>
                <a:rPr lang="en-GB" sz="44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PROJECT OVERVIEW</a:t>
              </a:r>
            </a:p>
            <a:p>
              <a:endParaRPr lang="en-GB" sz="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The Smart Agriculture Management System is designed to digitize and streamline agricultural operations. It helps in managing farmers, lands, crops, seasons, suppliers, production, market prices and sales data in an integrated manner</a:t>
              </a:r>
            </a:p>
            <a:p>
              <a:endParaRPr lang="en-GB" dirty="0"/>
            </a:p>
            <a:p>
              <a:endParaRPr lang="en-GB" dirty="0"/>
            </a:p>
            <a:p>
              <a:r>
                <a:rPr lang="en-GB" dirty="0"/>
                <a:t>                             </a:t>
              </a:r>
            </a:p>
            <a:p>
              <a:r>
                <a:rPr lang="en-GB" dirty="0"/>
                <a:t>       FARMER &amp; LAND         CROP &amp; SEASON         PRODUCTION       MARKET PRICE	      SALES</a:t>
              </a:r>
            </a:p>
            <a:p>
              <a:r>
                <a:rPr lang="en-GB" dirty="0"/>
                <a:t>       MANAGEMENT            MANAGEMENT            TRACKING            MONITORING 	 MANAGEMENT</a:t>
              </a:r>
            </a:p>
            <a:p>
              <a:endParaRPr lang="en-GB" dirty="0"/>
            </a:p>
            <a:p>
              <a:endParaRPr lang="en-GB" dirty="0"/>
            </a:p>
          </p:txBody>
        </p:sp>
        <p:sp>
          <p:nvSpPr>
            <p:cNvPr id="17" name="Rectangle: Rounded Corners 16">
              <a:extLst>
                <a:ext uri="{FF2B5EF4-FFF2-40B4-BE49-F238E27FC236}">
                  <a16:creationId xmlns:a16="http://schemas.microsoft.com/office/drawing/2014/main" id="{825168D2-E6C3-7B54-A251-D03278523E96}"/>
                </a:ext>
              </a:extLst>
            </p:cNvPr>
            <p:cNvSpPr/>
            <p:nvPr/>
          </p:nvSpPr>
          <p:spPr>
            <a:xfrm>
              <a:off x="332883" y="4436508"/>
              <a:ext cx="9165959" cy="2281993"/>
            </a:xfrm>
            <a:prstGeom prst="round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dirty="0">
                  <a:solidFill>
                    <a:schemeClr val="tx1"/>
                  </a:solidFill>
                  <a:latin typeface="Times New Roman" panose="02020603050405020304" pitchFamily="18" charset="0"/>
                  <a:cs typeface="Times New Roman" panose="02020603050405020304" pitchFamily="18" charset="0"/>
                </a:rPr>
                <a:t>Key Benefits : </a:t>
              </a:r>
            </a:p>
            <a:p>
              <a:pPr marL="285750" indent="-285750">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Centralized data management.</a:t>
              </a:r>
            </a:p>
            <a:p>
              <a:pPr marL="285750" indent="-285750">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Accurate tracking of production and sales· </a:t>
              </a:r>
            </a:p>
            <a:p>
              <a:pPr marL="285750" indent="-285750">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Real-time market price monitoring.</a:t>
              </a:r>
            </a:p>
            <a:p>
              <a:pPr marL="285750" indent="-285750">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Better decision making for farmers and stakeholders</a:t>
              </a:r>
              <a:r>
                <a:rPr lang="en-GB" dirty="0">
                  <a:solidFill>
                    <a:schemeClr val="tx1"/>
                  </a:solidFill>
                  <a:latin typeface="Times New Roman" panose="02020603050405020304" pitchFamily="18" charset="0"/>
                  <a:cs typeface="Times New Roman" panose="02020603050405020304" pitchFamily="18" charset="0"/>
                </a:rPr>
                <a:t>.</a:t>
              </a:r>
            </a:p>
            <a:p>
              <a:pPr algn="ctr"/>
              <a:endParaRPr lang="en-GB" sz="2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616509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30D4C8-547D-349E-9D68-A5E5F9B9C9EF}"/>
              </a:ext>
            </a:extLst>
          </p:cNvPr>
          <p:cNvSpPr txBox="1"/>
          <p:nvPr/>
        </p:nvSpPr>
        <p:spPr>
          <a:xfrm>
            <a:off x="559557" y="218362"/>
            <a:ext cx="1121846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5400" b="0" i="0" u="none" strike="noStrike" kern="1200" cap="none" spc="0" normalizeH="0" baseline="0" noProof="0" dirty="0">
                <a:ln w="0"/>
                <a:solidFill>
                  <a:srgbClr val="70AD47">
                    <a:lumMod val="75000"/>
                  </a:srgbClr>
                </a:solidFill>
                <a:effectLst>
                  <a:outerShdw blurRad="38100" dist="25400" dir="5400000" algn="ctr" rotWithShape="0">
                    <a:srgbClr val="6E747A">
                      <a:alpha val="43000"/>
                    </a:srgbClr>
                  </a:outerShdw>
                </a:effectLst>
                <a:uLnTx/>
                <a:uFillTx/>
                <a:latin typeface="Times New Roman" panose="02020603050405020304" pitchFamily="18" charset="0"/>
                <a:ea typeface="+mn-ea"/>
                <a:cs typeface="Times New Roman" panose="02020603050405020304" pitchFamily="18" charset="0"/>
              </a:rPr>
              <a:t>PROJECT OBJECTIVES</a:t>
            </a:r>
            <a:endParaRPr kumimoji="0" lang="en-GB" sz="2400" b="0" i="0" u="none" strike="noStrike" kern="1200" cap="none" spc="0" normalizeH="0" baseline="0" noProof="0" dirty="0">
              <a:ln w="0"/>
              <a:solidFill>
                <a:srgbClr val="70AD47">
                  <a:lumMod val="75000"/>
                </a:srgbClr>
              </a:solidFill>
              <a:effectLst>
                <a:outerShdw blurRad="38100" dist="25400" dir="5400000" algn="ctr" rotWithShape="0">
                  <a:srgbClr val="6E747A">
                    <a:alpha val="43000"/>
                  </a:srgbClr>
                </a:outerShdw>
              </a:effectLst>
              <a:uLnTx/>
              <a:uFillTx/>
              <a:latin typeface="Times New Roman" panose="02020603050405020304" pitchFamily="18" charset="0"/>
              <a:ea typeface="+mn-ea"/>
              <a:cs typeface="Times New Roman" panose="02020603050405020304" pitchFamily="18" charset="0"/>
            </a:endParaRPr>
          </a:p>
        </p:txBody>
      </p:sp>
      <p:sp>
        <p:nvSpPr>
          <p:cNvPr id="7" name="TextBox 6">
            <a:extLst>
              <a:ext uri="{FF2B5EF4-FFF2-40B4-BE49-F238E27FC236}">
                <a16:creationId xmlns:a16="http://schemas.microsoft.com/office/drawing/2014/main" id="{C3C83356-3EE1-576B-7401-D2F617E5C869}"/>
              </a:ext>
            </a:extLst>
          </p:cNvPr>
          <p:cNvSpPr txBox="1"/>
          <p:nvPr/>
        </p:nvSpPr>
        <p:spPr>
          <a:xfrm>
            <a:off x="682388" y="1296537"/>
            <a:ext cx="11218461" cy="5016758"/>
          </a:xfrm>
          <a:prstGeom prst="rect">
            <a:avLst/>
          </a:prstGeom>
          <a:noFill/>
        </p:spPr>
        <p:txBody>
          <a:bodyPr wrap="square" rtlCol="0">
            <a:spAutoFit/>
          </a:bodyPr>
          <a:lstStyle/>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Digitize agricultural data management. </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data redundancy. </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 data integrity using Primary and Foreign Key constraints. </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production, market prices, and sales. </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analytical reports for better decision-making. </a:t>
            </a:r>
          </a:p>
          <a:p>
            <a:pPr marL="457200" indent="-457200">
              <a:buFont typeface="Wingdings" panose="05000000000000000000" pitchFamily="2" charset="2"/>
              <a:buChar char="v"/>
            </a:pPr>
            <a:endParaRPr lang="en-GB"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4291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9A663E-7357-ABBC-423F-EE013A550891}"/>
              </a:ext>
            </a:extLst>
          </p:cNvPr>
          <p:cNvSpPr txBox="1"/>
          <p:nvPr/>
        </p:nvSpPr>
        <p:spPr>
          <a:xfrm>
            <a:off x="286603" y="313898"/>
            <a:ext cx="11150221" cy="769441"/>
          </a:xfrm>
          <a:prstGeom prst="rect">
            <a:avLst/>
          </a:prstGeom>
          <a:noFill/>
        </p:spPr>
        <p:txBody>
          <a:bodyPr wrap="square" rtlCol="0">
            <a:spAutoFit/>
          </a:bodyPr>
          <a:lstStyle/>
          <a:p>
            <a:r>
              <a:rPr lang="en-GB" sz="44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APPLICATIONS AND QUERIES USED</a:t>
            </a:r>
          </a:p>
        </p:txBody>
      </p:sp>
      <p:sp>
        <p:nvSpPr>
          <p:cNvPr id="3" name="TextBox 2">
            <a:extLst>
              <a:ext uri="{FF2B5EF4-FFF2-40B4-BE49-F238E27FC236}">
                <a16:creationId xmlns:a16="http://schemas.microsoft.com/office/drawing/2014/main" id="{77A140E7-A2B1-9832-B9DD-F516B14F9C06}"/>
              </a:ext>
            </a:extLst>
          </p:cNvPr>
          <p:cNvSpPr txBox="1"/>
          <p:nvPr/>
        </p:nvSpPr>
        <p:spPr>
          <a:xfrm>
            <a:off x="-13648" y="1199917"/>
            <a:ext cx="12010030" cy="6163675"/>
          </a:xfrm>
          <a:prstGeom prst="rect">
            <a:avLst/>
          </a:prstGeom>
          <a:noFill/>
        </p:spPr>
        <p:txBody>
          <a:bodyPr wrap="square" rtlCol="0">
            <a:spAutoFit/>
          </a:bodyPr>
          <a:lstStyle/>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MySQL</a:t>
            </a:r>
            <a:r>
              <a:rPr lang="en-US" sz="2000" dirty="0">
                <a:latin typeface="Times New Roman" panose="02020603050405020304" pitchFamily="18" charset="0"/>
                <a:ea typeface="Inter 2"/>
                <a:cs typeface="Times New Roman" panose="02020603050405020304" pitchFamily="18" charset="0"/>
                <a:sym typeface="Inter 2"/>
              </a:rPr>
              <a:t> – Used as the relational database management system to store and manage all project data.</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Standard SQL </a:t>
            </a:r>
            <a:r>
              <a:rPr lang="en-US" sz="2000" dirty="0">
                <a:latin typeface="Times New Roman" panose="02020603050405020304" pitchFamily="18" charset="0"/>
                <a:ea typeface="Inter 2"/>
                <a:cs typeface="Times New Roman" panose="02020603050405020304" pitchFamily="18" charset="0"/>
                <a:sym typeface="Inter 2"/>
              </a:rPr>
              <a:t>– Used to design, manipulate, and query the database.</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MySQL Workbench </a:t>
            </a:r>
            <a:r>
              <a:rPr lang="en-US" sz="2000" dirty="0">
                <a:latin typeface="Times New Roman" panose="02020603050405020304" pitchFamily="18" charset="0"/>
                <a:ea typeface="Inter 2"/>
                <a:cs typeface="Times New Roman" panose="02020603050405020304" pitchFamily="18" charset="0"/>
                <a:sym typeface="Inter 2"/>
              </a:rPr>
              <a:t>– Used as the development environment to create tables, insert data, and execute SQL queries.</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DBEAVER – </a:t>
            </a:r>
            <a:r>
              <a:rPr lang="en-US" sz="2000" dirty="0">
                <a:latin typeface="Times New Roman" panose="02020603050405020304" pitchFamily="18" charset="0"/>
                <a:ea typeface="Inter 2"/>
                <a:cs typeface="Times New Roman" panose="02020603050405020304" pitchFamily="18" charset="0"/>
                <a:sym typeface="Inter 2"/>
              </a:rPr>
              <a:t>Used as an IDE for writing queries</a:t>
            </a:r>
            <a:endParaRPr lang="en-US" sz="2000" b="1" dirty="0">
              <a:latin typeface="Times New Roman" panose="02020603050405020304" pitchFamily="18" charset="0"/>
              <a:ea typeface="Inter 2"/>
              <a:cs typeface="Times New Roman" panose="02020603050405020304" pitchFamily="18" charset="0"/>
              <a:sym typeface="Inter 2"/>
            </a:endParaRP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Data Definition Language (DDL) </a:t>
            </a:r>
            <a:r>
              <a:rPr lang="en-US" sz="2000" dirty="0">
                <a:latin typeface="Times New Roman" panose="02020603050405020304" pitchFamily="18" charset="0"/>
                <a:ea typeface="Inter 2"/>
                <a:cs typeface="Times New Roman" panose="02020603050405020304" pitchFamily="18" charset="0"/>
                <a:sym typeface="Inter 2"/>
              </a:rPr>
              <a:t>– CREATE TABLE statements were used to define the database structure.</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Data Manipulation Language (DML) </a:t>
            </a:r>
            <a:r>
              <a:rPr lang="en-US" sz="2000" dirty="0">
                <a:latin typeface="Times New Roman" panose="02020603050405020304" pitchFamily="18" charset="0"/>
                <a:ea typeface="Inter 2"/>
                <a:cs typeface="Times New Roman" panose="02020603050405020304" pitchFamily="18" charset="0"/>
                <a:sym typeface="Inter 2"/>
              </a:rPr>
              <a:t>– INSERT, UPDATE, and DELETE statements were used to add, modify, and remove records.</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Data Query Language (DQL) </a:t>
            </a:r>
            <a:r>
              <a:rPr lang="en-US" sz="2000" dirty="0">
                <a:latin typeface="Times New Roman" panose="02020603050405020304" pitchFamily="18" charset="0"/>
                <a:ea typeface="Inter 2"/>
                <a:cs typeface="Times New Roman" panose="02020603050405020304" pitchFamily="18" charset="0"/>
                <a:sym typeface="Inter 2"/>
              </a:rPr>
              <a:t>– SELECT statements were used to retrieve and display data.</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Joins</a:t>
            </a:r>
            <a:r>
              <a:rPr lang="en-US" sz="2000" dirty="0">
                <a:latin typeface="Times New Roman" panose="02020603050405020304" pitchFamily="18" charset="0"/>
                <a:ea typeface="Inter 2"/>
                <a:cs typeface="Times New Roman" panose="02020603050405020304" pitchFamily="18" charset="0"/>
                <a:sym typeface="Inter 2"/>
              </a:rPr>
              <a:t> – Used to combine related data from multiple tables.</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Aggregate Functions </a:t>
            </a:r>
            <a:r>
              <a:rPr lang="en-US" sz="2000" dirty="0">
                <a:latin typeface="Times New Roman" panose="02020603050405020304" pitchFamily="18" charset="0"/>
                <a:ea typeface="Inter 2"/>
                <a:cs typeface="Times New Roman" panose="02020603050405020304" pitchFamily="18" charset="0"/>
                <a:sym typeface="Inter 2"/>
              </a:rPr>
              <a:t>– COUNT() and SUM() were used to generate summaries and reports.</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GROUP BY </a:t>
            </a:r>
            <a:r>
              <a:rPr lang="en-US" sz="2000" dirty="0">
                <a:latin typeface="Times New Roman" panose="02020603050405020304" pitchFamily="18" charset="0"/>
                <a:ea typeface="Inter 2"/>
                <a:cs typeface="Times New Roman" panose="02020603050405020304" pitchFamily="18" charset="0"/>
                <a:sym typeface="Inter 2"/>
              </a:rPr>
              <a:t>– Used to organize data into categories for analysis.</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HAVING</a:t>
            </a:r>
            <a:r>
              <a:rPr lang="en-US" sz="2000" dirty="0">
                <a:latin typeface="Times New Roman" panose="02020603050405020304" pitchFamily="18" charset="0"/>
                <a:ea typeface="Inter 2"/>
                <a:cs typeface="Times New Roman" panose="02020603050405020304" pitchFamily="18" charset="0"/>
                <a:sym typeface="Inter 2"/>
              </a:rPr>
              <a:t> – Used to filter grouped data based on specific conditions.</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ORDER BY </a:t>
            </a:r>
            <a:r>
              <a:rPr lang="en-US" sz="2000" dirty="0">
                <a:latin typeface="Times New Roman" panose="02020603050405020304" pitchFamily="18" charset="0"/>
                <a:ea typeface="Inter 2"/>
                <a:cs typeface="Times New Roman" panose="02020603050405020304" pitchFamily="18" charset="0"/>
                <a:sym typeface="Inter 2"/>
              </a:rPr>
              <a:t>– Used to sort query results in ascending or descending order.</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Date Functions </a:t>
            </a:r>
            <a:r>
              <a:rPr lang="en-US" sz="2000" dirty="0">
                <a:latin typeface="Times New Roman" panose="02020603050405020304" pitchFamily="18" charset="0"/>
                <a:ea typeface="Inter 2"/>
                <a:cs typeface="Times New Roman" panose="02020603050405020304" pitchFamily="18" charset="0"/>
                <a:sym typeface="Inter 2"/>
              </a:rPr>
              <a:t>– DATE_FORMAT() was used to format and analyze date values.</a:t>
            </a:r>
          </a:p>
          <a:p>
            <a:pPr marL="539188" lvl="1" indent="-342900" algn="l">
              <a:lnSpc>
                <a:spcPts val="2545"/>
              </a:lnSpc>
              <a:buFont typeface="Wingdings" panose="05000000000000000000" pitchFamily="2" charset="2"/>
              <a:buChar char="v"/>
            </a:pPr>
            <a:r>
              <a:rPr lang="en-US" sz="2000" b="1" dirty="0">
                <a:latin typeface="Times New Roman" panose="02020603050405020304" pitchFamily="18" charset="0"/>
                <a:ea typeface="Inter 2"/>
                <a:cs typeface="Times New Roman" panose="02020603050405020304" pitchFamily="18" charset="0"/>
                <a:sym typeface="Inter 2"/>
              </a:rPr>
              <a:t>Relational Database Concepts </a:t>
            </a:r>
            <a:r>
              <a:rPr lang="en-US" sz="2000" dirty="0">
                <a:latin typeface="Times New Roman" panose="02020603050405020304" pitchFamily="18" charset="0"/>
                <a:ea typeface="Inter 2"/>
                <a:cs typeface="Times New Roman" panose="02020603050405020304" pitchFamily="18" charset="0"/>
                <a:sym typeface="Inter 2"/>
              </a:rPr>
              <a:t>– Primary keys and foreign keys were used to establish relationships and maintain data integrity</a:t>
            </a:r>
            <a:endParaRPr lang="en-GB" sz="2000" dirty="0"/>
          </a:p>
          <a:p>
            <a:pPr marL="196288" lvl="1" algn="l">
              <a:lnSpc>
                <a:spcPts val="2545"/>
              </a:lnSpc>
            </a:pPr>
            <a:endParaRPr lang="en-US" sz="2000" dirty="0">
              <a:latin typeface="Times New Roman" panose="02020603050405020304" pitchFamily="18" charset="0"/>
              <a:ea typeface="Inter 2"/>
              <a:cs typeface="Times New Roman" panose="02020603050405020304" pitchFamily="18" charset="0"/>
              <a:sym typeface="Inter 2"/>
            </a:endParaRPr>
          </a:p>
          <a:p>
            <a:pPr marL="392577" lvl="1" indent="-196289" algn="l">
              <a:lnSpc>
                <a:spcPts val="2545"/>
              </a:lnSpc>
              <a:buFont typeface="Arial"/>
              <a:buChar char="•"/>
            </a:pPr>
            <a:endParaRPr lang="en-US" sz="2000" dirty="0">
              <a:latin typeface="Times New Roman" panose="02020603050405020304" pitchFamily="18" charset="0"/>
              <a:ea typeface="Inter 2"/>
              <a:cs typeface="Times New Roman" panose="02020603050405020304" pitchFamily="18" charset="0"/>
              <a:sym typeface="Inter 2"/>
            </a:endParaRPr>
          </a:p>
        </p:txBody>
      </p:sp>
    </p:spTree>
    <p:extLst>
      <p:ext uri="{BB962C8B-B14F-4D97-AF65-F5344CB8AC3E}">
        <p14:creationId xmlns:p14="http://schemas.microsoft.com/office/powerpoint/2010/main" val="4164626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359147-2DBF-A593-79AA-38DCBD22CB03}"/>
              </a:ext>
            </a:extLst>
          </p:cNvPr>
          <p:cNvSpPr txBox="1"/>
          <p:nvPr/>
        </p:nvSpPr>
        <p:spPr>
          <a:xfrm>
            <a:off x="493594" y="286603"/>
            <a:ext cx="11204812" cy="769441"/>
          </a:xfrm>
          <a:prstGeom prst="rect">
            <a:avLst/>
          </a:prstGeom>
          <a:noFill/>
        </p:spPr>
        <p:txBody>
          <a:bodyPr wrap="square" rtlCol="0">
            <a:spAutoFit/>
          </a:bodyPr>
          <a:lstStyle/>
          <a:p>
            <a:r>
              <a:rPr lang="en-GB" sz="44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DATABASE TABLES AND DESCRIPTION</a:t>
            </a:r>
          </a:p>
        </p:txBody>
      </p:sp>
      <p:graphicFrame>
        <p:nvGraphicFramePr>
          <p:cNvPr id="4" name="Table 4">
            <a:extLst>
              <a:ext uri="{FF2B5EF4-FFF2-40B4-BE49-F238E27FC236}">
                <a16:creationId xmlns:a16="http://schemas.microsoft.com/office/drawing/2014/main" id="{AE5439F2-3409-F68D-4818-7B92F3C7D623}"/>
              </a:ext>
            </a:extLst>
          </p:cNvPr>
          <p:cNvGraphicFramePr>
            <a:graphicFrameLocks noGrp="1"/>
          </p:cNvGraphicFramePr>
          <p:nvPr>
            <p:extLst>
              <p:ext uri="{D42A27DB-BD31-4B8C-83A1-F6EECF244321}">
                <p14:modId xmlns:p14="http://schemas.microsoft.com/office/powerpoint/2010/main" val="788084106"/>
              </p:ext>
            </p:extLst>
          </p:nvPr>
        </p:nvGraphicFramePr>
        <p:xfrm>
          <a:off x="518613" y="1282886"/>
          <a:ext cx="10849970" cy="5059680"/>
        </p:xfrm>
        <a:graphic>
          <a:graphicData uri="http://schemas.openxmlformats.org/drawingml/2006/table">
            <a:tbl>
              <a:tblPr firstRow="1" bandRow="1">
                <a:tableStyleId>{5C22544A-7EE6-4342-B048-85BDC9FD1C3A}</a:tableStyleId>
              </a:tblPr>
              <a:tblGrid>
                <a:gridCol w="2927987">
                  <a:extLst>
                    <a:ext uri="{9D8B030D-6E8A-4147-A177-3AD203B41FA5}">
                      <a16:colId xmlns:a16="http://schemas.microsoft.com/office/drawing/2014/main" val="2373350508"/>
                    </a:ext>
                  </a:extLst>
                </a:gridCol>
                <a:gridCol w="7921983">
                  <a:extLst>
                    <a:ext uri="{9D8B030D-6E8A-4147-A177-3AD203B41FA5}">
                      <a16:colId xmlns:a16="http://schemas.microsoft.com/office/drawing/2014/main" val="3686780674"/>
                    </a:ext>
                  </a:extLst>
                </a:gridCol>
              </a:tblGrid>
              <a:tr h="454471">
                <a:tc>
                  <a:txBody>
                    <a:bodyPr/>
                    <a:lstStyle/>
                    <a:p>
                      <a:pPr algn="ctr"/>
                      <a:r>
                        <a:rPr lang="en-GB" sz="3200" dirty="0">
                          <a:latin typeface="Times New Roman" panose="02020603050405020304" pitchFamily="18" charset="0"/>
                          <a:cs typeface="Times New Roman" panose="02020603050405020304" pitchFamily="18" charset="0"/>
                        </a:rPr>
                        <a:t>TABLE</a:t>
                      </a:r>
                    </a:p>
                  </a:txBody>
                  <a:tcPr>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GB" sz="3200" dirty="0">
                          <a:latin typeface="Times New Roman" panose="02020603050405020304" pitchFamily="18" charset="0"/>
                          <a:cs typeface="Times New Roman" panose="02020603050405020304" pitchFamily="18" charset="0"/>
                        </a:rPr>
                        <a:t>DESCRIPTION</a:t>
                      </a:r>
                    </a:p>
                  </a:txBody>
                  <a:tcPr>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2158322190"/>
                  </a:ext>
                </a:extLst>
              </a:tr>
              <a:tr h="454471">
                <a:tc>
                  <a:txBody>
                    <a:bodyPr/>
                    <a:lstStyle/>
                    <a:p>
                      <a:pPr algn="ctr"/>
                      <a:r>
                        <a:rPr lang="en-GB" sz="2400" dirty="0">
                          <a:solidFill>
                            <a:schemeClr val="accent6">
                              <a:lumMod val="75000"/>
                            </a:schemeClr>
                          </a:solidFill>
                          <a:latin typeface="Times New Roman" panose="02020603050405020304" pitchFamily="18" charset="0"/>
                          <a:cs typeface="Times New Roman" panose="02020603050405020304" pitchFamily="18" charset="0"/>
                        </a:rPr>
                        <a:t>FARMER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400" dirty="0">
                          <a:latin typeface="Times New Roman" panose="02020603050405020304" pitchFamily="18" charset="0"/>
                          <a:cs typeface="Times New Roman" panose="02020603050405020304" pitchFamily="18" charset="0"/>
                        </a:rPr>
                        <a:t>Stores farmer personal and contact details.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5084950"/>
                  </a:ext>
                </a:extLst>
              </a:tr>
              <a:tr h="454471">
                <a:tc>
                  <a:txBody>
                    <a:bodyPr/>
                    <a:lstStyle/>
                    <a:p>
                      <a:pPr algn="ctr"/>
                      <a:r>
                        <a:rPr lang="en-GB" sz="2400" dirty="0">
                          <a:solidFill>
                            <a:schemeClr val="accent6">
                              <a:lumMod val="75000"/>
                            </a:schemeClr>
                          </a:solidFill>
                          <a:latin typeface="Times New Roman" panose="02020603050405020304" pitchFamily="18" charset="0"/>
                          <a:cs typeface="Times New Roman" panose="02020603050405020304" pitchFamily="18" charset="0"/>
                        </a:rPr>
                        <a:t>LAND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400" dirty="0">
                          <a:latin typeface="Times New Roman" panose="02020603050405020304" pitchFamily="18" charset="0"/>
                          <a:cs typeface="Times New Roman" panose="02020603050405020304" pitchFamily="18" charset="0"/>
                        </a:rPr>
                        <a:t>Stores land information and is linked to farmers.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6417333"/>
                  </a:ext>
                </a:extLst>
              </a:tr>
              <a:tr h="454471">
                <a:tc>
                  <a:txBody>
                    <a:bodyPr/>
                    <a:lstStyle/>
                    <a:p>
                      <a:pPr algn="ctr"/>
                      <a:r>
                        <a:rPr lang="en-GB" sz="2400" dirty="0">
                          <a:solidFill>
                            <a:schemeClr val="accent6">
                              <a:lumMod val="75000"/>
                            </a:schemeClr>
                          </a:solidFill>
                          <a:latin typeface="Times New Roman" panose="02020603050405020304" pitchFamily="18" charset="0"/>
                          <a:cs typeface="Times New Roman" panose="02020603050405020304" pitchFamily="18" charset="0"/>
                        </a:rPr>
                        <a:t>CROP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400" dirty="0">
                          <a:latin typeface="Times New Roman" panose="02020603050405020304" pitchFamily="18" charset="0"/>
                          <a:cs typeface="Times New Roman" panose="02020603050405020304" pitchFamily="18" charset="0"/>
                        </a:rPr>
                        <a:t>Stores crop details including category, duration and water 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04474483"/>
                  </a:ext>
                </a:extLst>
              </a:tr>
              <a:tr h="454471">
                <a:tc>
                  <a:txBody>
                    <a:bodyPr/>
                    <a:lstStyle/>
                    <a:p>
                      <a:pPr algn="ctr"/>
                      <a:r>
                        <a:rPr lang="en-GB" sz="2400" dirty="0">
                          <a:solidFill>
                            <a:schemeClr val="accent6">
                              <a:lumMod val="75000"/>
                            </a:schemeClr>
                          </a:solidFill>
                          <a:latin typeface="Times New Roman" panose="02020603050405020304" pitchFamily="18" charset="0"/>
                          <a:cs typeface="Times New Roman" panose="02020603050405020304" pitchFamily="18" charset="0"/>
                        </a:rPr>
                        <a:t>SEASON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400" dirty="0">
                          <a:latin typeface="Times New Roman" panose="02020603050405020304" pitchFamily="18" charset="0"/>
                          <a:cs typeface="Times New Roman" panose="02020603050405020304" pitchFamily="18" charset="0"/>
                        </a:rPr>
                        <a:t>Stores seasonal information (kharif, rabi, </a:t>
                      </a:r>
                      <a:r>
                        <a:rPr lang="en-GB" sz="2400" dirty="0" err="1">
                          <a:latin typeface="Times New Roman" panose="02020603050405020304" pitchFamily="18" charset="0"/>
                          <a:cs typeface="Times New Roman" panose="02020603050405020304" pitchFamily="18" charset="0"/>
                        </a:rPr>
                        <a:t>zaid</a:t>
                      </a:r>
                      <a:r>
                        <a:rPr lang="en-GB" sz="2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1869154"/>
                  </a:ext>
                </a:extLst>
              </a:tr>
              <a:tr h="454471">
                <a:tc>
                  <a:txBody>
                    <a:bodyPr/>
                    <a:lstStyle/>
                    <a:p>
                      <a:pPr algn="ctr"/>
                      <a:r>
                        <a:rPr lang="en-GB" sz="2400" dirty="0">
                          <a:solidFill>
                            <a:schemeClr val="accent6">
                              <a:lumMod val="75000"/>
                            </a:schemeClr>
                          </a:solidFill>
                          <a:latin typeface="Times New Roman" panose="02020603050405020304" pitchFamily="18" charset="0"/>
                          <a:cs typeface="Times New Roman" panose="02020603050405020304" pitchFamily="18" charset="0"/>
                        </a:rPr>
                        <a:t>SUPPLIER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400" dirty="0">
                          <a:latin typeface="Times New Roman" panose="02020603050405020304" pitchFamily="18" charset="0"/>
                          <a:cs typeface="Times New Roman" panose="02020603050405020304" pitchFamily="18" charset="0"/>
                        </a:rPr>
                        <a:t>Stores supplier details for inputs and 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293560"/>
                  </a:ext>
                </a:extLst>
              </a:tr>
              <a:tr h="454471">
                <a:tc>
                  <a:txBody>
                    <a:bodyPr/>
                    <a:lstStyle/>
                    <a:p>
                      <a:pPr algn="ctr"/>
                      <a:r>
                        <a:rPr lang="en-GB" sz="2400" dirty="0">
                          <a:solidFill>
                            <a:schemeClr val="accent6">
                              <a:lumMod val="75000"/>
                            </a:schemeClr>
                          </a:solidFill>
                          <a:latin typeface="Times New Roman" panose="02020603050405020304" pitchFamily="18" charset="0"/>
                          <a:cs typeface="Times New Roman" panose="02020603050405020304" pitchFamily="18" charset="0"/>
                        </a:rPr>
                        <a:t>PRODUCTION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400" dirty="0">
                          <a:latin typeface="Times New Roman" panose="02020603050405020304" pitchFamily="18" charset="0"/>
                          <a:cs typeface="Times New Roman" panose="02020603050405020304" pitchFamily="18" charset="0"/>
                        </a:rPr>
                        <a:t>Tracks production activities on lands with crops and suppliers.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1657551"/>
                  </a:ext>
                </a:extLst>
              </a:tr>
              <a:tr h="454471">
                <a:tc>
                  <a:txBody>
                    <a:bodyPr/>
                    <a:lstStyle/>
                    <a:p>
                      <a:pPr algn="ctr"/>
                      <a:r>
                        <a:rPr lang="en-GB" sz="2400" dirty="0">
                          <a:solidFill>
                            <a:schemeClr val="accent6">
                              <a:lumMod val="75000"/>
                            </a:schemeClr>
                          </a:solidFill>
                          <a:latin typeface="Times New Roman" panose="02020603050405020304" pitchFamily="18" charset="0"/>
                          <a:cs typeface="Times New Roman" panose="02020603050405020304" pitchFamily="18" charset="0"/>
                        </a:rPr>
                        <a:t>MARKET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400" dirty="0">
                          <a:latin typeface="Times New Roman" panose="02020603050405020304" pitchFamily="18" charset="0"/>
                          <a:cs typeface="Times New Roman" panose="02020603050405020304" pitchFamily="18" charset="0"/>
                        </a:rPr>
                        <a:t>Stores market details and contact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2945325"/>
                  </a:ext>
                </a:extLst>
              </a:tr>
              <a:tr h="454471">
                <a:tc>
                  <a:txBody>
                    <a:bodyPr/>
                    <a:lstStyle/>
                    <a:p>
                      <a:pPr algn="ctr"/>
                      <a:r>
                        <a:rPr lang="en-GB" sz="2400" dirty="0">
                          <a:solidFill>
                            <a:schemeClr val="accent6">
                              <a:lumMod val="75000"/>
                            </a:schemeClr>
                          </a:solidFill>
                          <a:latin typeface="Times New Roman" panose="02020603050405020304" pitchFamily="18" charset="0"/>
                          <a:cs typeface="Times New Roman" panose="02020603050405020304" pitchFamily="18" charset="0"/>
                        </a:rPr>
                        <a:t>MARKET PRICE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400" dirty="0">
                          <a:latin typeface="Times New Roman" panose="02020603050405020304" pitchFamily="18" charset="0"/>
                          <a:cs typeface="Times New Roman" panose="02020603050405020304" pitchFamily="18" charset="0"/>
                        </a:rPr>
                        <a:t>Stores daily crop prices for different markets.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6037889"/>
                  </a:ext>
                </a:extLst>
              </a:tr>
              <a:tr h="454471">
                <a:tc>
                  <a:txBody>
                    <a:bodyPr/>
                    <a:lstStyle/>
                    <a:p>
                      <a:pPr algn="ctr"/>
                      <a:r>
                        <a:rPr lang="en-GB" sz="2400" dirty="0">
                          <a:solidFill>
                            <a:schemeClr val="accent6">
                              <a:lumMod val="75000"/>
                            </a:schemeClr>
                          </a:solidFill>
                          <a:latin typeface="Times New Roman" panose="02020603050405020304" pitchFamily="18" charset="0"/>
                          <a:cs typeface="Times New Roman" panose="02020603050405020304" pitchFamily="18" charset="0"/>
                        </a:rPr>
                        <a:t>SALES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400" dirty="0">
                          <a:latin typeface="Times New Roman" panose="02020603050405020304" pitchFamily="18" charset="0"/>
                          <a:cs typeface="Times New Roman" panose="02020603050405020304" pitchFamily="18" charset="0"/>
                        </a:rPr>
                        <a:t>Tracks crop sales from production to markets.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7767911"/>
                  </a:ext>
                </a:extLst>
              </a:tr>
            </a:tbl>
          </a:graphicData>
        </a:graphic>
      </p:graphicFrame>
    </p:spTree>
    <p:extLst>
      <p:ext uri="{BB962C8B-B14F-4D97-AF65-F5344CB8AC3E}">
        <p14:creationId xmlns:p14="http://schemas.microsoft.com/office/powerpoint/2010/main" val="2440983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BD61586-DAF7-1F75-CCFD-6FA9B47FD2E5}"/>
              </a:ext>
            </a:extLst>
          </p:cNvPr>
          <p:cNvSpPr txBox="1"/>
          <p:nvPr/>
        </p:nvSpPr>
        <p:spPr>
          <a:xfrm>
            <a:off x="327542" y="136474"/>
            <a:ext cx="11864458" cy="830997"/>
          </a:xfrm>
          <a:prstGeom prst="rect">
            <a:avLst/>
          </a:prstGeom>
          <a:noFill/>
        </p:spPr>
        <p:txBody>
          <a:bodyPr wrap="square" rtlCol="0">
            <a:spAutoFit/>
          </a:bodyPr>
          <a:lstStyle/>
          <a:p>
            <a:r>
              <a:rPr lang="en-GB" sz="48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DATABASE ER DIAGRAM</a:t>
            </a:r>
            <a:endParaRPr lang="en-GB" sz="20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9" name="AutoShape 2">
            <a:extLst>
              <a:ext uri="{FF2B5EF4-FFF2-40B4-BE49-F238E27FC236}">
                <a16:creationId xmlns:a16="http://schemas.microsoft.com/office/drawing/2014/main" id="{4251685A-5150-397F-3214-49FC5EDD26D6}"/>
              </a:ext>
            </a:extLst>
          </p:cNvPr>
          <p:cNvSpPr>
            <a:spLocks noChangeAspect="1" noChangeArrowheads="1"/>
          </p:cNvSpPr>
          <p:nvPr/>
        </p:nvSpPr>
        <p:spPr bwMode="auto">
          <a:xfrm>
            <a:off x="5943599" y="3276599"/>
            <a:ext cx="4742597" cy="474259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1" name="Picture 10">
            <a:extLst>
              <a:ext uri="{FF2B5EF4-FFF2-40B4-BE49-F238E27FC236}">
                <a16:creationId xmlns:a16="http://schemas.microsoft.com/office/drawing/2014/main" id="{847B1A76-4D71-190E-4657-0EE2AA6AE145}"/>
              </a:ext>
            </a:extLst>
          </p:cNvPr>
          <p:cNvPicPr>
            <a:picLocks noChangeAspect="1"/>
          </p:cNvPicPr>
          <p:nvPr/>
        </p:nvPicPr>
        <p:blipFill rotWithShape="1">
          <a:blip r:embed="rId2"/>
          <a:srcRect t="4490" b="14489"/>
          <a:stretch/>
        </p:blipFill>
        <p:spPr>
          <a:xfrm>
            <a:off x="409428" y="914393"/>
            <a:ext cx="11218461" cy="5912611"/>
          </a:xfrm>
          <a:prstGeom prst="rect">
            <a:avLst/>
          </a:prstGeom>
        </p:spPr>
      </p:pic>
    </p:spTree>
    <p:extLst>
      <p:ext uri="{BB962C8B-B14F-4D97-AF65-F5344CB8AC3E}">
        <p14:creationId xmlns:p14="http://schemas.microsoft.com/office/powerpoint/2010/main" val="282030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3DB37CF-896A-029E-23D9-ED25612FE497}"/>
              </a:ext>
            </a:extLst>
          </p:cNvPr>
          <p:cNvGraphicFramePr>
            <a:graphicFrameLocks noGrp="1"/>
          </p:cNvGraphicFramePr>
          <p:nvPr>
            <p:extLst>
              <p:ext uri="{D42A27DB-BD31-4B8C-83A1-F6EECF244321}">
                <p14:modId xmlns:p14="http://schemas.microsoft.com/office/powerpoint/2010/main" val="3446927306"/>
              </p:ext>
            </p:extLst>
          </p:nvPr>
        </p:nvGraphicFramePr>
        <p:xfrm>
          <a:off x="169457" y="1300288"/>
          <a:ext cx="11881514" cy="4868504"/>
        </p:xfrm>
        <a:graphic>
          <a:graphicData uri="http://schemas.openxmlformats.org/drawingml/2006/table">
            <a:tbl>
              <a:tblPr>
                <a:tableStyleId>{327F97BB-C833-4FB7-BDE5-3F7075034690}</a:tableStyleId>
              </a:tblPr>
              <a:tblGrid>
                <a:gridCol w="5940757">
                  <a:extLst>
                    <a:ext uri="{9D8B030D-6E8A-4147-A177-3AD203B41FA5}">
                      <a16:colId xmlns:a16="http://schemas.microsoft.com/office/drawing/2014/main" val="1230309926"/>
                    </a:ext>
                  </a:extLst>
                </a:gridCol>
                <a:gridCol w="5940757">
                  <a:extLst>
                    <a:ext uri="{9D8B030D-6E8A-4147-A177-3AD203B41FA5}">
                      <a16:colId xmlns:a16="http://schemas.microsoft.com/office/drawing/2014/main" val="279969053"/>
                    </a:ext>
                  </a:extLst>
                </a:gridCol>
              </a:tblGrid>
              <a:tr h="608563">
                <a:tc>
                  <a:txBody>
                    <a:bodyPr/>
                    <a:lstStyle/>
                    <a:p>
                      <a:r>
                        <a:rPr lang="en-GB" dirty="0"/>
                        <a:t>Metric</a:t>
                      </a:r>
                    </a:p>
                  </a:txBody>
                  <a:tcPr anchor="ctr">
                    <a:lnB w="12700" cap="flat" cmpd="sng" algn="ctr">
                      <a:solidFill>
                        <a:schemeClr val="tx1"/>
                      </a:solidFill>
                      <a:prstDash val="solid"/>
                      <a:round/>
                      <a:headEnd type="none" w="med" len="med"/>
                      <a:tailEnd type="none" w="med" len="med"/>
                    </a:lnB>
                    <a:solidFill>
                      <a:schemeClr val="accent6"/>
                    </a:solidFill>
                  </a:tcPr>
                </a:tc>
                <a:tc>
                  <a:txBody>
                    <a:bodyPr/>
                    <a:lstStyle/>
                    <a:p>
                      <a:pPr algn="r"/>
                      <a:r>
                        <a:rPr lang="en-GB" dirty="0"/>
                        <a:t>Value</a:t>
                      </a:r>
                    </a:p>
                  </a:txBody>
                  <a:tcPr anchor="ctr">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200853059"/>
                  </a:ext>
                </a:extLst>
              </a:tr>
              <a:tr h="608563">
                <a:tc>
                  <a:txBody>
                    <a:bodyPr/>
                    <a:lstStyle/>
                    <a:p>
                      <a:r>
                        <a:rPr lang="en-GB" b="0" cap="none" spc="0" dirty="0">
                          <a:ln w="0"/>
                          <a:solidFill>
                            <a:schemeClr val="tx1"/>
                          </a:solidFill>
                          <a:effectLst>
                            <a:outerShdw blurRad="38100" dist="19050" dir="2700000" algn="tl" rotWithShape="0">
                              <a:schemeClr val="dk1">
                                <a:alpha val="40000"/>
                              </a:schemeClr>
                            </a:outerShdw>
                          </a:effectLst>
                        </a:rPr>
                        <a:t>Total Tables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GB" b="0" cap="none" spc="0" dirty="0">
                          <a:ln w="0"/>
                          <a:solidFill>
                            <a:schemeClr val="tx1"/>
                          </a:solidFill>
                          <a:effectLst>
                            <a:outerShdw blurRad="38100" dist="19050" dir="2700000" algn="tl" rotWithShape="0">
                              <a:schemeClr val="dk1">
                                <a:alpha val="40000"/>
                              </a:schemeClr>
                            </a:outerShdw>
                          </a:effectLs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7157136"/>
                  </a:ext>
                </a:extLst>
              </a:tr>
              <a:tr h="608563">
                <a:tc>
                  <a:txBody>
                    <a:bodyPr/>
                    <a:lstStyle/>
                    <a:p>
                      <a:r>
                        <a:rPr lang="en-GB" b="0" cap="none" spc="0" dirty="0">
                          <a:ln w="0"/>
                          <a:solidFill>
                            <a:schemeClr val="tx1"/>
                          </a:solidFill>
                          <a:effectLst>
                            <a:outerShdw blurRad="38100" dist="19050" dir="2700000" algn="tl" rotWithShape="0">
                              <a:schemeClr val="dk1">
                                <a:alpha val="40000"/>
                              </a:schemeClr>
                            </a:outerShdw>
                          </a:effectLst>
                        </a:rPr>
                        <a:t>Primary Keys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GB" b="0" cap="none" spc="0" dirty="0">
                          <a:ln w="0"/>
                          <a:solidFill>
                            <a:schemeClr val="tx1"/>
                          </a:solidFill>
                          <a:effectLst>
                            <a:outerShdw blurRad="38100" dist="19050" dir="2700000" algn="tl" rotWithShape="0">
                              <a:schemeClr val="dk1">
                                <a:alpha val="40000"/>
                              </a:schemeClr>
                            </a:outerShdw>
                          </a:effectLs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3164102"/>
                  </a:ext>
                </a:extLst>
              </a:tr>
              <a:tr h="608563">
                <a:tc>
                  <a:txBody>
                    <a:bodyPr/>
                    <a:lstStyle/>
                    <a:p>
                      <a:r>
                        <a:rPr lang="en-GB" b="0" cap="none" spc="0" dirty="0">
                          <a:ln w="0"/>
                          <a:solidFill>
                            <a:schemeClr val="tx1"/>
                          </a:solidFill>
                          <a:effectLst>
                            <a:outerShdw blurRad="38100" dist="19050" dir="2700000" algn="tl" rotWithShape="0">
                              <a:schemeClr val="dk1">
                                <a:alpha val="40000"/>
                              </a:schemeClr>
                            </a:outerShdw>
                          </a:effectLst>
                        </a:rPr>
                        <a:t>Foreign Keys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GB" b="0" cap="none" spc="0" dirty="0">
                          <a:ln w="0"/>
                          <a:solidFill>
                            <a:schemeClr val="tx1"/>
                          </a:solidFill>
                          <a:effectLst>
                            <a:outerShdw blurRad="38100" dist="19050" dir="2700000" algn="tl" rotWithShape="0">
                              <a:schemeClr val="dk1">
                                <a:alpha val="40000"/>
                              </a:schemeClr>
                            </a:outerShdw>
                          </a:effectLs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8660422"/>
                  </a:ext>
                </a:extLst>
              </a:tr>
              <a:tr h="608563">
                <a:tc>
                  <a:txBody>
                    <a:bodyPr/>
                    <a:lstStyle/>
                    <a:p>
                      <a:r>
                        <a:rPr lang="en-GB" b="0" cap="none" spc="0" dirty="0">
                          <a:ln w="0"/>
                          <a:solidFill>
                            <a:schemeClr val="tx1"/>
                          </a:solidFill>
                          <a:effectLst>
                            <a:outerShdw blurRad="38100" dist="19050" dir="2700000" algn="tl" rotWithShape="0">
                              <a:schemeClr val="dk1">
                                <a:alpha val="40000"/>
                              </a:schemeClr>
                            </a:outerShdw>
                          </a:effectLst>
                        </a:rPr>
                        <a:t>Relationships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GB" b="0" cap="none" spc="0">
                          <a:ln w="0"/>
                          <a:solidFill>
                            <a:schemeClr val="tx1"/>
                          </a:solidFill>
                          <a:effectLst>
                            <a:outerShdw blurRad="38100" dist="19050" dir="2700000" algn="tl" rotWithShape="0">
                              <a:schemeClr val="dk1">
                                <a:alpha val="40000"/>
                              </a:schemeClr>
                            </a:outerShdw>
                          </a:effectLs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17894691"/>
                  </a:ext>
                </a:extLst>
              </a:tr>
              <a:tr h="608563">
                <a:tc>
                  <a:txBody>
                    <a:bodyPr/>
                    <a:lstStyle/>
                    <a:p>
                      <a:r>
                        <a:rPr lang="en-GB" b="0" cap="none" spc="0" dirty="0">
                          <a:ln w="0"/>
                          <a:solidFill>
                            <a:schemeClr val="tx1"/>
                          </a:solidFill>
                          <a:effectLst>
                            <a:outerShdw blurRad="38100" dist="19050" dir="2700000" algn="tl" rotWithShape="0">
                              <a:schemeClr val="dk1">
                                <a:alpha val="40000"/>
                              </a:schemeClr>
                            </a:outerShdw>
                          </a:effectLst>
                        </a:rPr>
                        <a:t>SQL Queries Written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GB" b="0" cap="none" spc="0" dirty="0">
                          <a:ln w="0"/>
                          <a:solidFill>
                            <a:schemeClr val="tx1"/>
                          </a:solidFill>
                          <a:effectLst>
                            <a:outerShdw blurRad="38100" dist="19050" dir="2700000" algn="tl" rotWithShape="0">
                              <a:schemeClr val="dk1">
                                <a:alpha val="40000"/>
                              </a:schemeClr>
                            </a:outerShdw>
                          </a:effectLst>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2626376"/>
                  </a:ext>
                </a:extLst>
              </a:tr>
              <a:tr h="608563">
                <a:tc>
                  <a:txBody>
                    <a:bodyPr/>
                    <a:lstStyle/>
                    <a:p>
                      <a:r>
                        <a:rPr lang="en-GB" b="0" cap="none" spc="0" dirty="0">
                          <a:ln w="0"/>
                          <a:solidFill>
                            <a:schemeClr val="tx1"/>
                          </a:solidFill>
                          <a:effectLst>
                            <a:outerShdw blurRad="38100" dist="19050" dir="2700000" algn="tl" rotWithShape="0">
                              <a:schemeClr val="dk1">
                                <a:alpha val="40000"/>
                              </a:schemeClr>
                            </a:outerShdw>
                          </a:effectLst>
                        </a:rPr>
                        <a:t>Database Views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GB" b="0" cap="none" spc="0">
                          <a:ln w="0"/>
                          <a:solidFill>
                            <a:schemeClr val="tx1"/>
                          </a:solidFill>
                          <a:effectLst>
                            <a:outerShdw blurRad="38100" dist="19050" dir="2700000" algn="tl" rotWithShape="0">
                              <a:schemeClr val="dk1">
                                <a:alpha val="40000"/>
                              </a:schemeClr>
                            </a:outerShdw>
                          </a:effectLs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3522504"/>
                  </a:ext>
                </a:extLst>
              </a:tr>
              <a:tr h="608563">
                <a:tc>
                  <a:txBody>
                    <a:bodyPr/>
                    <a:lstStyle/>
                    <a:p>
                      <a:r>
                        <a:rPr lang="en-GB" b="0" cap="none" spc="0" dirty="0">
                          <a:ln w="0"/>
                          <a:solidFill>
                            <a:schemeClr val="tx1"/>
                          </a:solidFill>
                          <a:effectLst>
                            <a:outerShdw blurRad="38100" dist="19050" dir="2700000" algn="tl" rotWithShape="0">
                              <a:schemeClr val="dk1">
                                <a:alpha val="40000"/>
                              </a:schemeClr>
                            </a:outerShdw>
                          </a:effectLst>
                        </a:rPr>
                        <a:t>Market Price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GB" b="0" cap="none" spc="0" dirty="0">
                          <a:ln w="0"/>
                          <a:solidFill>
                            <a:schemeClr val="tx1"/>
                          </a:solidFill>
                          <a:effectLst>
                            <a:outerShdw blurRad="38100" dist="19050" dir="2700000" algn="tl" rotWithShape="0">
                              <a:schemeClr val="dk1">
                                <a:alpha val="40000"/>
                              </a:schemeClr>
                            </a:outerShdw>
                          </a:effectLst>
                        </a:rPr>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9807979"/>
                  </a:ext>
                </a:extLst>
              </a:tr>
            </a:tbl>
          </a:graphicData>
        </a:graphic>
      </p:graphicFrame>
      <p:sp>
        <p:nvSpPr>
          <p:cNvPr id="4" name="TextBox 3">
            <a:extLst>
              <a:ext uri="{FF2B5EF4-FFF2-40B4-BE49-F238E27FC236}">
                <a16:creationId xmlns:a16="http://schemas.microsoft.com/office/drawing/2014/main" id="{4455F4D9-8F10-4D56-D210-DD7CBD547D44}"/>
              </a:ext>
            </a:extLst>
          </p:cNvPr>
          <p:cNvSpPr txBox="1"/>
          <p:nvPr/>
        </p:nvSpPr>
        <p:spPr>
          <a:xfrm>
            <a:off x="169457" y="191068"/>
            <a:ext cx="11204812" cy="769441"/>
          </a:xfrm>
          <a:prstGeom prst="rect">
            <a:avLst/>
          </a:prstGeom>
          <a:noFill/>
        </p:spPr>
        <p:txBody>
          <a:bodyPr wrap="square" rtlCol="0">
            <a:spAutoFit/>
          </a:bodyPr>
          <a:lstStyle/>
          <a:p>
            <a:r>
              <a:rPr lang="en-GB" sz="44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DATABASE STATISTICS</a:t>
            </a:r>
          </a:p>
        </p:txBody>
      </p:sp>
    </p:spTree>
    <p:extLst>
      <p:ext uri="{BB962C8B-B14F-4D97-AF65-F5344CB8AC3E}">
        <p14:creationId xmlns:p14="http://schemas.microsoft.com/office/powerpoint/2010/main" val="2167089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06E9D9-C0CE-23A5-46E6-36687FA6520B}"/>
              </a:ext>
            </a:extLst>
          </p:cNvPr>
          <p:cNvSpPr txBox="1"/>
          <p:nvPr/>
        </p:nvSpPr>
        <p:spPr>
          <a:xfrm>
            <a:off x="382137" y="172196"/>
            <a:ext cx="11559654" cy="1015663"/>
          </a:xfrm>
          <a:prstGeom prst="rect">
            <a:avLst/>
          </a:prstGeom>
          <a:noFill/>
        </p:spPr>
        <p:txBody>
          <a:bodyPr wrap="square" rtlCol="0">
            <a:spAutoFit/>
          </a:bodyPr>
          <a:lstStyle/>
          <a:p>
            <a:r>
              <a:rPr lang="en-GB" sz="54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SAMPLE DATA SNAPSHOT</a:t>
            </a:r>
          </a:p>
        </p:txBody>
      </p:sp>
      <p:pic>
        <p:nvPicPr>
          <p:cNvPr id="10" name="Picture 9">
            <a:extLst>
              <a:ext uri="{FF2B5EF4-FFF2-40B4-BE49-F238E27FC236}">
                <a16:creationId xmlns:a16="http://schemas.microsoft.com/office/drawing/2014/main" id="{F23C65DE-D043-1BD0-23D6-0BDE8C197C0E}"/>
              </a:ext>
            </a:extLst>
          </p:cNvPr>
          <p:cNvPicPr>
            <a:picLocks noChangeAspect="1"/>
          </p:cNvPicPr>
          <p:nvPr/>
        </p:nvPicPr>
        <p:blipFill rotWithShape="1">
          <a:blip r:embed="rId2"/>
          <a:srcRect l="1669" t="896" r="1283" b="2502"/>
          <a:stretch/>
        </p:blipFill>
        <p:spPr>
          <a:xfrm>
            <a:off x="668740" y="996287"/>
            <a:ext cx="10317708" cy="5861714"/>
          </a:xfrm>
          <a:prstGeom prst="rect">
            <a:avLst/>
          </a:prstGeom>
          <a:ln>
            <a:noFill/>
          </a:ln>
        </p:spPr>
      </p:pic>
    </p:spTree>
    <p:extLst>
      <p:ext uri="{BB962C8B-B14F-4D97-AF65-F5344CB8AC3E}">
        <p14:creationId xmlns:p14="http://schemas.microsoft.com/office/powerpoint/2010/main" val="54955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8D5114-641B-056D-E682-9D823870E1F7}"/>
              </a:ext>
            </a:extLst>
          </p:cNvPr>
          <p:cNvSpPr txBox="1"/>
          <p:nvPr/>
        </p:nvSpPr>
        <p:spPr>
          <a:xfrm>
            <a:off x="272953" y="158548"/>
            <a:ext cx="11559654" cy="923330"/>
          </a:xfrm>
          <a:prstGeom prst="rect">
            <a:avLst/>
          </a:prstGeom>
          <a:noFill/>
        </p:spPr>
        <p:txBody>
          <a:bodyPr wrap="square" rtlCol="0">
            <a:spAutoFit/>
          </a:bodyPr>
          <a:lstStyle/>
          <a:p>
            <a:r>
              <a:rPr lang="en-GB" sz="54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CRUD OPERATIONS</a:t>
            </a:r>
          </a:p>
        </p:txBody>
      </p:sp>
      <p:grpSp>
        <p:nvGrpSpPr>
          <p:cNvPr id="17" name="Group 16">
            <a:extLst>
              <a:ext uri="{FF2B5EF4-FFF2-40B4-BE49-F238E27FC236}">
                <a16:creationId xmlns:a16="http://schemas.microsoft.com/office/drawing/2014/main" id="{37AE8276-28D4-9D7B-6548-A0BAA5C8A3FB}"/>
              </a:ext>
            </a:extLst>
          </p:cNvPr>
          <p:cNvGrpSpPr/>
          <p:nvPr/>
        </p:nvGrpSpPr>
        <p:grpSpPr>
          <a:xfrm>
            <a:off x="300242" y="1091813"/>
            <a:ext cx="11560569" cy="4885898"/>
            <a:chOff x="354834" y="1528548"/>
            <a:chExt cx="11560569" cy="4885898"/>
          </a:xfrm>
        </p:grpSpPr>
        <p:grpSp>
          <p:nvGrpSpPr>
            <p:cNvPr id="7" name="Group 6">
              <a:extLst>
                <a:ext uri="{FF2B5EF4-FFF2-40B4-BE49-F238E27FC236}">
                  <a16:creationId xmlns:a16="http://schemas.microsoft.com/office/drawing/2014/main" id="{B348F4E1-3326-1701-9332-2F87A24D09A8}"/>
                </a:ext>
              </a:extLst>
            </p:cNvPr>
            <p:cNvGrpSpPr/>
            <p:nvPr/>
          </p:nvGrpSpPr>
          <p:grpSpPr>
            <a:xfrm>
              <a:off x="354834" y="1542196"/>
              <a:ext cx="2825094" cy="4858604"/>
              <a:chOff x="1542197" y="1596788"/>
              <a:chExt cx="2593075" cy="4462818"/>
            </a:xfrm>
            <a:solidFill>
              <a:schemeClr val="bg1"/>
            </a:solidFill>
          </p:grpSpPr>
          <p:sp>
            <p:nvSpPr>
              <p:cNvPr id="5" name="Rectangle: Rounded Corners 4">
                <a:extLst>
                  <a:ext uri="{FF2B5EF4-FFF2-40B4-BE49-F238E27FC236}">
                    <a16:creationId xmlns:a16="http://schemas.microsoft.com/office/drawing/2014/main" id="{E1173C21-B85D-F258-8ADB-AE7F278DDA94}"/>
                  </a:ext>
                </a:extLst>
              </p:cNvPr>
              <p:cNvSpPr/>
              <p:nvPr/>
            </p:nvSpPr>
            <p:spPr>
              <a:xfrm>
                <a:off x="1542197" y="1596788"/>
                <a:ext cx="2565779" cy="4462818"/>
              </a:xfrm>
              <a:prstGeom prst="roundRect">
                <a:avLst/>
              </a:prstGeom>
              <a:grp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INSERT INTO Farmer</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(First_Name,Last_Name,</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Gender,DOB,Phone,</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Email,Village,District,</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State)</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VALUES(‘RAMESH’,</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‘KUMAR’,’MALE’,</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1999-01-01’,</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’0123456789’,</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’RK@gmail.com’,</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‘VEDAPATTI’,</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’COIMBATORE’,</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‘TAMIL NADU’</a:t>
                </a:r>
              </a:p>
            </p:txBody>
          </p:sp>
          <p:sp>
            <p:nvSpPr>
              <p:cNvPr id="6" name="Rectangle: Top Corners Rounded 5">
                <a:extLst>
                  <a:ext uri="{FF2B5EF4-FFF2-40B4-BE49-F238E27FC236}">
                    <a16:creationId xmlns:a16="http://schemas.microsoft.com/office/drawing/2014/main" id="{AC26AC43-79BD-5500-43A1-21150E3874CA}"/>
                  </a:ext>
                </a:extLst>
              </p:cNvPr>
              <p:cNvSpPr/>
              <p:nvPr/>
            </p:nvSpPr>
            <p:spPr>
              <a:xfrm>
                <a:off x="1542197" y="1596788"/>
                <a:ext cx="2593075" cy="573206"/>
              </a:xfrm>
              <a:prstGeom prst="round2Same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bg1"/>
                    </a:solidFill>
                    <a:latin typeface="Times New Roman" panose="02020603050405020304" pitchFamily="18" charset="0"/>
                    <a:cs typeface="Times New Roman" panose="02020603050405020304" pitchFamily="18" charset="0"/>
                  </a:rPr>
                  <a:t>CREATE</a:t>
                </a:r>
              </a:p>
            </p:txBody>
          </p:sp>
        </p:grpSp>
        <p:grpSp>
          <p:nvGrpSpPr>
            <p:cNvPr id="8" name="Group 7">
              <a:extLst>
                <a:ext uri="{FF2B5EF4-FFF2-40B4-BE49-F238E27FC236}">
                  <a16:creationId xmlns:a16="http://schemas.microsoft.com/office/drawing/2014/main" id="{BD4AEC96-CA4B-E8CE-401C-48AF67DD514B}"/>
                </a:ext>
              </a:extLst>
            </p:cNvPr>
            <p:cNvGrpSpPr/>
            <p:nvPr/>
          </p:nvGrpSpPr>
          <p:grpSpPr>
            <a:xfrm>
              <a:off x="3248160" y="1555843"/>
              <a:ext cx="2826000" cy="4858603"/>
              <a:chOff x="1542197" y="1596788"/>
              <a:chExt cx="2593075" cy="4462818"/>
            </a:xfrm>
            <a:solidFill>
              <a:schemeClr val="bg1"/>
            </a:solidFill>
          </p:grpSpPr>
          <p:sp>
            <p:nvSpPr>
              <p:cNvPr id="9" name="Rectangle: Rounded Corners 8">
                <a:extLst>
                  <a:ext uri="{FF2B5EF4-FFF2-40B4-BE49-F238E27FC236}">
                    <a16:creationId xmlns:a16="http://schemas.microsoft.com/office/drawing/2014/main" id="{EE7F6D12-9C82-13BA-FEFC-B354904342FD}"/>
                  </a:ext>
                </a:extLst>
              </p:cNvPr>
              <p:cNvSpPr/>
              <p:nvPr/>
            </p:nvSpPr>
            <p:spPr>
              <a:xfrm>
                <a:off x="1542197" y="1596788"/>
                <a:ext cx="2593075" cy="4462818"/>
              </a:xfrm>
              <a:prstGeom prst="roundRect">
                <a:avLst/>
              </a:prstGeom>
              <a:grp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SELECT First_Name,</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Last_Name,CONCAT(</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First_Name,” ”,</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Last_Name) as Full_Name FROM </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Farmer WHERE State=‘Coimbatore’;</a:t>
                </a:r>
              </a:p>
              <a:p>
                <a:pPr algn="ctr"/>
                <a:endParaRPr lang="en-GB" sz="1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0" name="Rectangle: Top Corners Rounded 9">
                <a:extLst>
                  <a:ext uri="{FF2B5EF4-FFF2-40B4-BE49-F238E27FC236}">
                    <a16:creationId xmlns:a16="http://schemas.microsoft.com/office/drawing/2014/main" id="{23B62A9B-8ECD-35BE-8CA4-2F0936DE4BEE}"/>
                  </a:ext>
                </a:extLst>
              </p:cNvPr>
              <p:cNvSpPr/>
              <p:nvPr/>
            </p:nvSpPr>
            <p:spPr>
              <a:xfrm>
                <a:off x="1542197" y="1596788"/>
                <a:ext cx="2593075" cy="573206"/>
              </a:xfrm>
              <a:prstGeom prst="round2Same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bg1"/>
                    </a:solidFill>
                    <a:latin typeface="Times New Roman" panose="02020603050405020304" pitchFamily="18" charset="0"/>
                    <a:cs typeface="Times New Roman" panose="02020603050405020304" pitchFamily="18" charset="0"/>
                  </a:rPr>
                  <a:t>READ</a:t>
                </a:r>
              </a:p>
            </p:txBody>
          </p:sp>
        </p:grpSp>
        <p:grpSp>
          <p:nvGrpSpPr>
            <p:cNvPr id="11" name="Group 10">
              <a:extLst>
                <a:ext uri="{FF2B5EF4-FFF2-40B4-BE49-F238E27FC236}">
                  <a16:creationId xmlns:a16="http://schemas.microsoft.com/office/drawing/2014/main" id="{F9BE0569-C09E-2878-4BB3-05883B474026}"/>
                </a:ext>
              </a:extLst>
            </p:cNvPr>
            <p:cNvGrpSpPr/>
            <p:nvPr/>
          </p:nvGrpSpPr>
          <p:grpSpPr>
            <a:xfrm>
              <a:off x="6168781" y="1542196"/>
              <a:ext cx="2826000" cy="4858602"/>
              <a:chOff x="1542197" y="1596788"/>
              <a:chExt cx="2593075" cy="4462818"/>
            </a:xfrm>
            <a:solidFill>
              <a:schemeClr val="bg1"/>
            </a:solidFill>
          </p:grpSpPr>
          <p:sp>
            <p:nvSpPr>
              <p:cNvPr id="12" name="Rectangle: Rounded Corners 11">
                <a:extLst>
                  <a:ext uri="{FF2B5EF4-FFF2-40B4-BE49-F238E27FC236}">
                    <a16:creationId xmlns:a16="http://schemas.microsoft.com/office/drawing/2014/main" id="{AD5F08EA-5B2D-2D8A-B728-7A2411899F13}"/>
                  </a:ext>
                </a:extLst>
              </p:cNvPr>
              <p:cNvSpPr/>
              <p:nvPr/>
            </p:nvSpPr>
            <p:spPr>
              <a:xfrm>
                <a:off x="1542197" y="1596788"/>
                <a:ext cx="2593075" cy="4462818"/>
              </a:xfrm>
              <a:prstGeom prst="roundRect">
                <a:avLst/>
              </a:prstGeom>
              <a:grp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ln w="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UPDATE Land set </a:t>
                </a:r>
              </a:p>
              <a:p>
                <a:r>
                  <a:rPr lang="en-GB" dirty="0" err="1">
                    <a:ln w="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Area_Acres</a:t>
                </a:r>
                <a:r>
                  <a:rPr lang="en-GB" dirty="0">
                    <a:ln w="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3.00</a:t>
                </a:r>
              </a:p>
              <a:p>
                <a:r>
                  <a:rPr lang="en-GB" dirty="0">
                    <a:ln w="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 </a:t>
                </a:r>
                <a:r>
                  <a:rPr lang="en-GB" dirty="0" err="1">
                    <a:ln w="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Land_ID</a:t>
                </a:r>
                <a:r>
                  <a:rPr lang="en-GB" dirty="0">
                    <a:ln w="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1</a:t>
                </a:r>
              </a:p>
              <a:p>
                <a:endParaRPr lang="en-GB" dirty="0">
                  <a:ln w="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GB" dirty="0">
                  <a:ln w="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 name="Rectangle: Top Corners Rounded 12">
                <a:extLst>
                  <a:ext uri="{FF2B5EF4-FFF2-40B4-BE49-F238E27FC236}">
                    <a16:creationId xmlns:a16="http://schemas.microsoft.com/office/drawing/2014/main" id="{98491298-8BD0-46AB-D56A-C6C1635090BF}"/>
                  </a:ext>
                </a:extLst>
              </p:cNvPr>
              <p:cNvSpPr/>
              <p:nvPr/>
            </p:nvSpPr>
            <p:spPr>
              <a:xfrm>
                <a:off x="1542197" y="1596788"/>
                <a:ext cx="2593075" cy="573206"/>
              </a:xfrm>
              <a:prstGeom prst="round2Same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bg1"/>
                    </a:solidFill>
                    <a:latin typeface="Times New Roman" panose="02020603050405020304" pitchFamily="18" charset="0"/>
                    <a:cs typeface="Times New Roman" panose="02020603050405020304" pitchFamily="18" charset="0"/>
                  </a:rPr>
                  <a:t>UPDATE</a:t>
                </a:r>
              </a:p>
            </p:txBody>
          </p:sp>
        </p:grpSp>
        <p:grpSp>
          <p:nvGrpSpPr>
            <p:cNvPr id="14" name="Group 13">
              <a:extLst>
                <a:ext uri="{FF2B5EF4-FFF2-40B4-BE49-F238E27FC236}">
                  <a16:creationId xmlns:a16="http://schemas.microsoft.com/office/drawing/2014/main" id="{007E870D-97F8-7FB4-D530-067C9769479C}"/>
                </a:ext>
              </a:extLst>
            </p:cNvPr>
            <p:cNvGrpSpPr/>
            <p:nvPr/>
          </p:nvGrpSpPr>
          <p:grpSpPr>
            <a:xfrm>
              <a:off x="9089403" y="1528548"/>
              <a:ext cx="2826000" cy="4858602"/>
              <a:chOff x="1542197" y="1596788"/>
              <a:chExt cx="2593075" cy="4462818"/>
            </a:xfrm>
            <a:solidFill>
              <a:schemeClr val="bg1"/>
            </a:solidFill>
          </p:grpSpPr>
          <p:sp>
            <p:nvSpPr>
              <p:cNvPr id="15" name="Rectangle: Rounded Corners 14">
                <a:extLst>
                  <a:ext uri="{FF2B5EF4-FFF2-40B4-BE49-F238E27FC236}">
                    <a16:creationId xmlns:a16="http://schemas.microsoft.com/office/drawing/2014/main" id="{812AE25C-5E57-184A-89BE-6BFB15EC5679}"/>
                  </a:ext>
                </a:extLst>
              </p:cNvPr>
              <p:cNvSpPr/>
              <p:nvPr/>
            </p:nvSpPr>
            <p:spPr>
              <a:xfrm>
                <a:off x="1542197" y="1596788"/>
                <a:ext cx="2593075" cy="4462818"/>
              </a:xfrm>
              <a:prstGeom prst="roundRect">
                <a:avLst/>
              </a:prstGeom>
              <a:grp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DELETE FROM Supplier </a:t>
                </a:r>
              </a:p>
              <a:p>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WHERE </a:t>
                </a:r>
              </a:p>
              <a:p>
                <a:r>
                  <a:rPr lang="en-GB"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Supplier_ID</a:t>
                </a:r>
                <a:r>
                  <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 100 ;</a:t>
                </a:r>
              </a:p>
              <a:p>
                <a:endParaRPr lang="en-GB"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6" name="Rectangle: Top Corners Rounded 15">
                <a:extLst>
                  <a:ext uri="{FF2B5EF4-FFF2-40B4-BE49-F238E27FC236}">
                    <a16:creationId xmlns:a16="http://schemas.microsoft.com/office/drawing/2014/main" id="{AEA0C6EC-A05B-90B0-0DFB-9F1821748172}"/>
                  </a:ext>
                </a:extLst>
              </p:cNvPr>
              <p:cNvSpPr/>
              <p:nvPr/>
            </p:nvSpPr>
            <p:spPr>
              <a:xfrm>
                <a:off x="1542197" y="1596788"/>
                <a:ext cx="2593075" cy="573206"/>
              </a:xfrm>
              <a:prstGeom prst="round2Same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bg1"/>
                    </a:solidFill>
                    <a:latin typeface="Times New Roman" panose="02020603050405020304" pitchFamily="18" charset="0"/>
                    <a:cs typeface="Times New Roman" panose="02020603050405020304" pitchFamily="18" charset="0"/>
                  </a:rPr>
                  <a:t>DELETE</a:t>
                </a:r>
              </a:p>
            </p:txBody>
          </p:sp>
        </p:grpSp>
      </p:grpSp>
      <p:sp>
        <p:nvSpPr>
          <p:cNvPr id="18" name="TextBox 17">
            <a:extLst>
              <a:ext uri="{FF2B5EF4-FFF2-40B4-BE49-F238E27FC236}">
                <a16:creationId xmlns:a16="http://schemas.microsoft.com/office/drawing/2014/main" id="{E79DEA09-CFD4-4433-4CE1-7514DD8619AD}"/>
              </a:ext>
            </a:extLst>
          </p:cNvPr>
          <p:cNvSpPr txBox="1"/>
          <p:nvPr/>
        </p:nvSpPr>
        <p:spPr>
          <a:xfrm>
            <a:off x="272953" y="6155140"/>
            <a:ext cx="11136574" cy="461665"/>
          </a:xfrm>
          <a:prstGeom prst="rect">
            <a:avLst/>
          </a:prstGeom>
          <a:noFill/>
        </p:spPr>
        <p:txBody>
          <a:bodyPr wrap="square" rtlCol="0">
            <a:spAutoFit/>
          </a:bodyPr>
          <a:lstStyle/>
          <a:p>
            <a:r>
              <a:rPr lang="en-US" sz="2400" b="1" spc="-197" dirty="0">
                <a:solidFill>
                  <a:schemeClr val="accent6">
                    <a:lumMod val="75000"/>
                  </a:schemeClr>
                </a:solidFill>
                <a:latin typeface="Times New Roman" panose="02020603050405020304" pitchFamily="18" charset="0"/>
                <a:ea typeface="Inter 1 Medium"/>
                <a:cs typeface="Times New Roman" panose="02020603050405020304" pitchFamily="18" charset="0"/>
                <a:sym typeface="Inter 1 Medium"/>
              </a:rPr>
              <a:t>These operations confirm that the database supports complete data management functionality.</a:t>
            </a:r>
            <a:endParaRPr lang="en-GB" sz="24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9628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7983FE-40DA-E43B-A4CC-88CAC3441AAD}"/>
              </a:ext>
            </a:extLst>
          </p:cNvPr>
          <p:cNvSpPr txBox="1"/>
          <p:nvPr/>
        </p:nvSpPr>
        <p:spPr>
          <a:xfrm>
            <a:off x="559557" y="218362"/>
            <a:ext cx="11218461" cy="923330"/>
          </a:xfrm>
          <a:prstGeom prst="rect">
            <a:avLst/>
          </a:prstGeom>
          <a:noFill/>
        </p:spPr>
        <p:txBody>
          <a:bodyPr wrap="square" rtlCol="0">
            <a:spAutoFit/>
          </a:bodyPr>
          <a:lstStyle/>
          <a:p>
            <a:r>
              <a:rPr lang="en-GB" sz="54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SAMPLE ANALYTICAL QUERIES</a:t>
            </a:r>
            <a:endParaRPr lang="en-GB" sz="24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884E7EC-ABC6-6B93-A323-BDFB054EAB34}"/>
              </a:ext>
            </a:extLst>
          </p:cNvPr>
          <p:cNvSpPr txBox="1"/>
          <p:nvPr/>
        </p:nvSpPr>
        <p:spPr>
          <a:xfrm>
            <a:off x="709684" y="1323833"/>
            <a:ext cx="10317707" cy="4585871"/>
          </a:xfrm>
          <a:prstGeom prst="rect">
            <a:avLst/>
          </a:prstGeom>
          <a:noFill/>
        </p:spPr>
        <p:txBody>
          <a:bodyPr wrap="square" rtlCol="0">
            <a:spAutoFit/>
          </a:bodyPr>
          <a:lstStyle/>
          <a:p>
            <a:pPr marL="342900" indent="-342900">
              <a:buFont typeface="Wingdings" panose="05000000000000000000" pitchFamily="2" charset="2"/>
              <a:buChar char="Ø"/>
            </a:pPr>
            <a:r>
              <a:rPr lang="en-GB" sz="2400" b="1" dirty="0">
                <a:latin typeface="Times New Roman" panose="02020603050405020304" pitchFamily="18" charset="0"/>
                <a:cs typeface="Times New Roman" panose="02020603050405020304" pitchFamily="18" charset="0"/>
              </a:rPr>
              <a:t>Total number of farmers by state</a:t>
            </a:r>
          </a:p>
          <a:p>
            <a:r>
              <a:rPr lang="en-GB" sz="2000" dirty="0">
                <a:latin typeface="Times New Roman" panose="02020603050405020304" pitchFamily="18" charset="0"/>
                <a:cs typeface="Times New Roman" panose="02020603050405020304" pitchFamily="18" charset="0"/>
              </a:rPr>
              <a:t>	SELECT state, COUNT(*) AS total_farmers FROM farmer GROUP BY state </a:t>
            </a:r>
          </a:p>
          <a:p>
            <a:r>
              <a:rPr lang="en-GB" sz="2000" dirty="0">
                <a:latin typeface="Times New Roman" panose="02020603050405020304" pitchFamily="18" charset="0"/>
                <a:cs typeface="Times New Roman" panose="02020603050405020304" pitchFamily="18" charset="0"/>
              </a:rPr>
              <a:t>	ORDER BY total_farmers DESC;</a:t>
            </a:r>
          </a:p>
          <a:p>
            <a:endParaRPr lang="en-GB"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GB" sz="2400" b="1" dirty="0">
                <a:latin typeface="Times New Roman" panose="02020603050405020304" pitchFamily="18" charset="0"/>
                <a:cs typeface="Times New Roman" panose="02020603050405020304" pitchFamily="18" charset="0"/>
              </a:rPr>
              <a:t>Top 5 crops by total production</a:t>
            </a:r>
          </a:p>
          <a:p>
            <a:pPr lvl="1"/>
            <a:r>
              <a:rPr lang="en-GB" sz="2000" dirty="0">
                <a:latin typeface="Times New Roman" panose="02020603050405020304" pitchFamily="18" charset="0"/>
                <a:cs typeface="Times New Roman" panose="02020603050405020304" pitchFamily="18" charset="0"/>
              </a:rPr>
              <a:t>	SELECT c.Crop_Name, SUM(p.Quantity_Harvested_KG) AS Total_Production </a:t>
            </a:r>
          </a:p>
          <a:p>
            <a:pPr lvl="1"/>
            <a:r>
              <a:rPr lang="en-GB" sz="2000" dirty="0">
                <a:latin typeface="Times New Roman" panose="02020603050405020304" pitchFamily="18" charset="0"/>
                <a:cs typeface="Times New Roman" panose="02020603050405020304" pitchFamily="18" charset="0"/>
              </a:rPr>
              <a:t>	FROM production p </a:t>
            </a:r>
          </a:p>
          <a:p>
            <a:pPr lvl="1"/>
            <a:r>
              <a:rPr lang="en-GB" sz="2000" dirty="0">
                <a:latin typeface="Times New Roman" panose="02020603050405020304" pitchFamily="18" charset="0"/>
                <a:cs typeface="Times New Roman" panose="02020603050405020304" pitchFamily="18" charset="0"/>
              </a:rPr>
              <a:t>	JOIN crop c ON p.Crop_ID = c.Crop_ID GROUP BY c.Crop_Name </a:t>
            </a:r>
          </a:p>
          <a:p>
            <a:pPr lvl="1"/>
            <a:r>
              <a:rPr lang="en-GB" sz="2000" dirty="0">
                <a:latin typeface="Times New Roman" panose="02020603050405020304" pitchFamily="18" charset="0"/>
                <a:cs typeface="Times New Roman" panose="02020603050405020304" pitchFamily="18" charset="0"/>
              </a:rPr>
              <a:t>	ORDER BY Total_Production  DESC  LIMIT 5;</a:t>
            </a:r>
          </a:p>
          <a:p>
            <a:pPr lvl="1"/>
            <a:endParaRPr lang="en-GB"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GB" sz="2400" b="1" dirty="0">
                <a:latin typeface="Times New Roman" panose="02020603050405020304" pitchFamily="18" charset="0"/>
                <a:cs typeface="Times New Roman" panose="02020603050405020304" pitchFamily="18" charset="0"/>
              </a:rPr>
              <a:t>Average market price of each crop</a:t>
            </a:r>
          </a:p>
          <a:p>
            <a:r>
              <a:rPr lang="en-GB" sz="2000" dirty="0">
                <a:latin typeface="Times New Roman" panose="02020603050405020304" pitchFamily="18" charset="0"/>
                <a:cs typeface="Times New Roman" panose="02020603050405020304" pitchFamily="18" charset="0"/>
              </a:rPr>
              <a:t>	SELECT c.Crop_Name, AVG(mp.Price_Per_KG) AS Avg_Price FROM market_price mp 	JOIN crop c ON mp.Crop_ID = c.Crop_ID </a:t>
            </a:r>
          </a:p>
          <a:p>
            <a:r>
              <a:rPr lang="en-GB" sz="2000" dirty="0">
                <a:latin typeface="Times New Roman" panose="02020603050405020304" pitchFamily="18" charset="0"/>
                <a:cs typeface="Times New Roman" panose="02020603050405020304" pitchFamily="18" charset="0"/>
              </a:rPr>
              <a:t>	GROUP BY c.Crop_Name;</a:t>
            </a:r>
          </a:p>
        </p:txBody>
      </p:sp>
    </p:spTree>
    <p:extLst>
      <p:ext uri="{BB962C8B-B14F-4D97-AF65-F5344CB8AC3E}">
        <p14:creationId xmlns:p14="http://schemas.microsoft.com/office/powerpoint/2010/main" val="1019866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7E2612-7F12-975D-D850-D985E538530A}"/>
              </a:ext>
            </a:extLst>
          </p:cNvPr>
          <p:cNvSpPr txBox="1"/>
          <p:nvPr/>
        </p:nvSpPr>
        <p:spPr>
          <a:xfrm>
            <a:off x="559557" y="218362"/>
            <a:ext cx="1121846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5400" b="0" i="0" u="none" strike="noStrike" kern="1200" cap="none" spc="0" normalizeH="0" baseline="0" noProof="0" dirty="0">
                <a:ln w="0"/>
                <a:solidFill>
                  <a:srgbClr val="70AD47">
                    <a:lumMod val="75000"/>
                  </a:srgbClr>
                </a:solidFill>
                <a:effectLst>
                  <a:outerShdw blurRad="38100" dist="25400" dir="5400000" algn="ctr" rotWithShape="0">
                    <a:srgbClr val="6E747A">
                      <a:alpha val="43000"/>
                    </a:srgbClr>
                  </a:outerShdw>
                </a:effectLst>
                <a:uLnTx/>
                <a:uFillTx/>
                <a:latin typeface="Times New Roman" panose="02020603050405020304" pitchFamily="18" charset="0"/>
                <a:ea typeface="+mn-ea"/>
                <a:cs typeface="Times New Roman" panose="02020603050405020304" pitchFamily="18" charset="0"/>
              </a:rPr>
              <a:t>PROJECT OUTCOME</a:t>
            </a:r>
            <a:endParaRPr kumimoji="0" lang="en-GB" sz="2400" b="0" i="0" u="none" strike="noStrike" kern="1200" cap="none" spc="0" normalizeH="0" baseline="0" noProof="0" dirty="0">
              <a:ln w="0"/>
              <a:solidFill>
                <a:srgbClr val="70AD47">
                  <a:lumMod val="75000"/>
                </a:srgbClr>
              </a:solidFill>
              <a:effectLst>
                <a:outerShdw blurRad="38100" dist="25400" dir="5400000" algn="ctr" rotWithShape="0">
                  <a:srgbClr val="6E747A">
                    <a:alpha val="43000"/>
                  </a:srgbClr>
                </a:outerShdw>
              </a:effectLst>
              <a:uLnTx/>
              <a:uFillTx/>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E3300277-39A8-3C8F-446E-05E6EB16E4D0}"/>
              </a:ext>
            </a:extLst>
          </p:cNvPr>
          <p:cNvSpPr txBox="1"/>
          <p:nvPr/>
        </p:nvSpPr>
        <p:spPr>
          <a:xfrm>
            <a:off x="696036" y="1419367"/>
            <a:ext cx="10686197" cy="353943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Blip>
                <a:blip r:embed="rId2"/>
              </a:buBlip>
              <a:tabLst/>
              <a:defRPr/>
            </a:pPr>
            <a:r>
              <a:rPr kumimoji="0" lang="en-GB"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Organized and integrated agricultural data management system</a:t>
            </a:r>
          </a:p>
          <a:p>
            <a:pPr marL="457200" marR="0" lvl="0" indent="-457200" algn="l" defTabSz="914400" rtl="0" eaLnBrk="1" fontAlgn="auto" latinLnBrk="0" hangingPunct="1">
              <a:lnSpc>
                <a:spcPct val="100000"/>
              </a:lnSpc>
              <a:spcBef>
                <a:spcPts val="0"/>
              </a:spcBef>
              <a:spcAft>
                <a:spcPts val="0"/>
              </a:spcAft>
              <a:buClrTx/>
              <a:buSzTx/>
              <a:buFontTx/>
              <a:buBlip>
                <a:blip r:embed="rId2"/>
              </a:buBlip>
              <a:tabLst/>
              <a:defRPr/>
            </a:pPr>
            <a:endParaRPr kumimoji="0" lang="en-GB"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0"/>
              </a:spcBef>
              <a:spcAft>
                <a:spcPts val="0"/>
              </a:spcAft>
              <a:buClrTx/>
              <a:buSzTx/>
              <a:buFontTx/>
              <a:buBlip>
                <a:blip r:embed="rId2"/>
              </a:buBlip>
              <a:tabLst/>
              <a:defRPr/>
            </a:pPr>
            <a:r>
              <a:rPr kumimoji="0" lang="en-GB"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Accurate tracking of production, prices and sales </a:t>
            </a:r>
          </a:p>
          <a:p>
            <a:pPr marL="457200" marR="0" lvl="0" indent="-457200" algn="l" defTabSz="914400" rtl="0" eaLnBrk="1" fontAlgn="auto" latinLnBrk="0" hangingPunct="1">
              <a:lnSpc>
                <a:spcPct val="100000"/>
              </a:lnSpc>
              <a:spcBef>
                <a:spcPts val="0"/>
              </a:spcBef>
              <a:spcAft>
                <a:spcPts val="0"/>
              </a:spcAft>
              <a:buClrTx/>
              <a:buSzTx/>
              <a:buFontTx/>
              <a:buBlip>
                <a:blip r:embed="rId2"/>
              </a:buBlip>
              <a:tabLst/>
              <a:defRPr/>
            </a:pPr>
            <a:endParaRPr kumimoji="0" lang="en-GB"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0"/>
              </a:spcBef>
              <a:spcAft>
                <a:spcPts val="0"/>
              </a:spcAft>
              <a:buClrTx/>
              <a:buSzTx/>
              <a:buFontTx/>
              <a:buBlip>
                <a:blip r:embed="rId2"/>
              </a:buBlip>
              <a:tabLst/>
              <a:defRPr/>
            </a:pPr>
            <a:r>
              <a:rPr kumimoji="0" lang="en-GB"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Helps farmers and stakeholders to make decisions on their own</a:t>
            </a:r>
          </a:p>
          <a:p>
            <a:pPr marL="457200" marR="0" lvl="0" indent="-457200" algn="l" defTabSz="914400" rtl="0" eaLnBrk="1" fontAlgn="auto" latinLnBrk="0" hangingPunct="1">
              <a:lnSpc>
                <a:spcPct val="100000"/>
              </a:lnSpc>
              <a:spcBef>
                <a:spcPts val="0"/>
              </a:spcBef>
              <a:spcAft>
                <a:spcPts val="0"/>
              </a:spcAft>
              <a:buClrTx/>
              <a:buSzTx/>
              <a:buFontTx/>
              <a:buBlip>
                <a:blip r:embed="rId2"/>
              </a:buBlip>
              <a:tabLst/>
              <a:defRPr/>
            </a:pPr>
            <a:endParaRPr kumimoji="0" lang="en-GB"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0"/>
              </a:spcBef>
              <a:spcAft>
                <a:spcPts val="0"/>
              </a:spcAft>
              <a:buClrTx/>
              <a:buSzTx/>
              <a:buFontTx/>
              <a:buBlip>
                <a:blip r:embed="rId2"/>
              </a:buBlip>
              <a:tabLst/>
              <a:defRPr/>
            </a:pPr>
            <a:r>
              <a:rPr kumimoji="0" lang="en-GB"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Scalable and can be extended with more modules like weather, inventory, loans etc..,</a:t>
            </a:r>
          </a:p>
        </p:txBody>
      </p:sp>
    </p:spTree>
    <p:extLst>
      <p:ext uri="{BB962C8B-B14F-4D97-AF65-F5344CB8AC3E}">
        <p14:creationId xmlns:p14="http://schemas.microsoft.com/office/powerpoint/2010/main" val="2333410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8067F6-A948-AAA2-5F14-CC47F23396EB}"/>
              </a:ext>
            </a:extLst>
          </p:cNvPr>
          <p:cNvSpPr txBox="1"/>
          <p:nvPr/>
        </p:nvSpPr>
        <p:spPr>
          <a:xfrm>
            <a:off x="559557" y="218362"/>
            <a:ext cx="11218461" cy="923330"/>
          </a:xfrm>
          <a:prstGeom prst="rect">
            <a:avLst/>
          </a:prstGeom>
          <a:noFill/>
        </p:spPr>
        <p:txBody>
          <a:bodyPr wrap="square" rtlCol="0">
            <a:spAutoFit/>
          </a:bodyPr>
          <a:lstStyle/>
          <a:p>
            <a:r>
              <a:rPr lang="en-GB" sz="54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CONCLUSION</a:t>
            </a:r>
            <a:endParaRPr lang="en-GB" sz="2400" dirty="0">
              <a:ln w="0"/>
              <a:solidFill>
                <a:schemeClr val="accent6">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B61907C-D8C5-CAA1-E73F-B0FBA7C8981D}"/>
              </a:ext>
            </a:extLst>
          </p:cNvPr>
          <p:cNvSpPr txBox="1"/>
          <p:nvPr/>
        </p:nvSpPr>
        <p:spPr>
          <a:xfrm>
            <a:off x="559557" y="1142565"/>
            <a:ext cx="11450473" cy="4985980"/>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The Smart Agriculture Management System demonstrates how SQL can be used to build a real-world, data-driven solution for the agriculture sector. This system improves transparency, efficiency, and productivity by connecting farmers, markets, suppliers, and private companies through a centralized platform.</a:t>
            </a:r>
          </a:p>
          <a:p>
            <a:endParaRPr lang="en-GB" sz="2000" dirty="0">
              <a:latin typeface="Times New Roman" panose="02020603050405020304" pitchFamily="18" charset="0"/>
              <a:cs typeface="Times New Roman" panose="02020603050405020304" pitchFamily="18" charset="0"/>
            </a:endParaRPr>
          </a:p>
          <a:p>
            <a:r>
              <a:rPr lang="en-GB" sz="2800" b="1" dirty="0">
                <a:latin typeface="Times New Roman" panose="02020603050405020304" pitchFamily="18" charset="0"/>
                <a:cs typeface="Times New Roman" panose="02020603050405020304" pitchFamily="18" charset="0"/>
              </a:rPr>
              <a:t>Future Enhancements</a:t>
            </a:r>
          </a:p>
          <a:p>
            <a:endParaRPr lang="en-GB"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GB" sz="2800" dirty="0"/>
              <a:t>Power BI Dashboard </a:t>
            </a:r>
          </a:p>
          <a:p>
            <a:pPr marL="457200" indent="-457200">
              <a:buFont typeface="Arial" panose="020B0604020202020204" pitchFamily="34" charset="0"/>
              <a:buChar char="•"/>
            </a:pPr>
            <a:r>
              <a:rPr lang="en-GB" sz="2800" dirty="0"/>
              <a:t>Mobile Application </a:t>
            </a:r>
          </a:p>
          <a:p>
            <a:pPr marL="457200" indent="-457200">
              <a:buFont typeface="Arial" panose="020B0604020202020204" pitchFamily="34" charset="0"/>
              <a:buChar char="•"/>
            </a:pPr>
            <a:r>
              <a:rPr lang="en-GB" sz="2800" dirty="0"/>
              <a:t>Loan Management </a:t>
            </a:r>
          </a:p>
          <a:p>
            <a:pPr marL="457200" indent="-457200">
              <a:buFont typeface="Arial" panose="020B0604020202020204" pitchFamily="34" charset="0"/>
              <a:buChar char="•"/>
            </a:pPr>
            <a:r>
              <a:rPr lang="en-GB" sz="2800" dirty="0"/>
              <a:t>Crop Recommendation using AI</a:t>
            </a:r>
          </a:p>
        </p:txBody>
      </p:sp>
    </p:spTree>
    <p:extLst>
      <p:ext uri="{BB962C8B-B14F-4D97-AF65-F5344CB8AC3E}">
        <p14:creationId xmlns:p14="http://schemas.microsoft.com/office/powerpoint/2010/main" val="2583572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0E6E-3F33-0EAC-183C-BEAAF67306D9}"/>
              </a:ext>
            </a:extLst>
          </p:cNvPr>
          <p:cNvSpPr>
            <a:spLocks noGrp="1"/>
          </p:cNvSpPr>
          <p:nvPr>
            <p:ph type="title"/>
          </p:nvPr>
        </p:nvSpPr>
        <p:spPr>
          <a:xfrm>
            <a:off x="0" y="1975561"/>
            <a:ext cx="12191999" cy="2200654"/>
          </a:xfrm>
        </p:spPr>
        <p:txBody>
          <a:bodyPr>
            <a:normAutofit/>
          </a:bodyPr>
          <a:lstStyle/>
          <a:p>
            <a:pPr algn="ctr"/>
            <a:r>
              <a:rPr lang="en-GB" sz="13800" dirty="0">
                <a:ln w="0"/>
                <a:solidFill>
                  <a:schemeClr val="accent6">
                    <a:lumMod val="75000"/>
                  </a:schemeClr>
                </a:solidFill>
                <a:effectLst>
                  <a:glow rad="63500">
                    <a:schemeClr val="accent6">
                      <a:satMod val="175000"/>
                      <a:alpha val="40000"/>
                    </a:schemeClr>
                  </a:glow>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706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TotalTime>
  <Words>903</Words>
  <Application>Microsoft Office PowerPoint</Application>
  <PresentationFormat>Widescreen</PresentationFormat>
  <Paragraphs>144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Algerian</vt: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sastha sai</dc:creator>
  <cp:lastModifiedBy>sastha sai</cp:lastModifiedBy>
  <cp:revision>9</cp:revision>
  <cp:lastPrinted>2026-08-06T04:07:03Z</cp:lastPrinted>
  <dcterms:created xsi:type="dcterms:W3CDTF">2026-08-04T13:22:10Z</dcterms:created>
  <dcterms:modified xsi:type="dcterms:W3CDTF">2026-08-06T06:06:06Z</dcterms:modified>
</cp:coreProperties>
</file>